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6103d714c14a50" /><Relationship Type="http://schemas.openxmlformats.org/officeDocument/2006/relationships/extended-properties" Target="/docProps/app.xml" Id="Rd7e438cae410466c" /><Relationship Type="http://schemas.openxmlformats.org/officeDocument/2006/relationships/officeDocument" Target="/ppt/presentation.xml" Id="R4fcc6109a4594e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b854f4e0e6425d"/>
  </p:sldMasterIdLst>
  <p:notesMasterIdLst>
    <p:notesMasterId xmlns:r="http://schemas.openxmlformats.org/officeDocument/2006/relationships" r:id="Rdcffd4737ae54421"/>
  </p:notesMasterIdLst>
  <p:sldIdLst>
    <p:sldId xmlns:r="http://schemas.openxmlformats.org/officeDocument/2006/relationships" id="256" r:id="R83011f6cd76247ae"/>
    <p:sldId xmlns:r="http://schemas.openxmlformats.org/officeDocument/2006/relationships" id="257" r:id="Rf8a74efd74c945f0"/>
    <p:sldId xmlns:r="http://schemas.openxmlformats.org/officeDocument/2006/relationships" id="258" r:id="R35567bfb045a480e"/>
  </p:sldIdLst>
  <p:sldSz cx="106965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890f5ce1cf4c71" /><Relationship Type="http://schemas.openxmlformats.org/officeDocument/2006/relationships/slideMaster" Target="/ppt/slideMasters/slideMaster1.xml" Id="R07b854f4e0e6425d" /><Relationship Type="http://schemas.openxmlformats.org/officeDocument/2006/relationships/notesMaster" Target="/ppt/notesMasters/notesMaster1.xml" Id="Rdcffd4737ae54421" /><Relationship Type="http://schemas.openxmlformats.org/officeDocument/2006/relationships/presProps" Target="/ppt/presProps.xml" Id="Rf77ecf6fba264e1f" /><Relationship Type="http://schemas.openxmlformats.org/officeDocument/2006/relationships/tableStyles" Target="/ppt/tableStyles.xml" Id="Raf116964242e4b43" /><Relationship Type="http://schemas.openxmlformats.org/officeDocument/2006/relationships/slide" Target="/ppt/slides/slide1.xml" Id="R83011f6cd76247ae" /><Relationship Type="http://schemas.openxmlformats.org/officeDocument/2006/relationships/slide" Target="/ppt/slides/slide2.xml" Id="Rf8a74efd74c945f0" /><Relationship Type="http://schemas.openxmlformats.org/officeDocument/2006/relationships/slide" Target="/ppt/slides/slide3.xml" Id="R35567bfb045a48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c441fbb0749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a4868cd6c24c18" /><Relationship Type="http://schemas.openxmlformats.org/officeDocument/2006/relationships/notesMaster" Target="/ppt/notesMasters/notesMaster1.xml" Id="Rc15347f8643d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2d1edd00014b13" /><Relationship Type="http://schemas.openxmlformats.org/officeDocument/2006/relationships/notesMaster" Target="/ppt/notesMasters/notesMaster1.xml" Id="R6688eca342cc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5d032e6f5643ee" /><Relationship Type="http://schemas.openxmlformats.org/officeDocument/2006/relationships/notesMaster" Target="/ppt/notesMasters/notesMaster1.xml" Id="R4af4efee58e3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Joy Page 10-12词 new.docx (user-supplied)</a:t>
            </a:r>
          </a:p>
          <a:p xmlns:a="http://schemas.openxmlformats.org/drawingml/2006/main">
            <a:r>
              <a:t>- All figures shown are team estimates or proposed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Joy Page 10-12词 new.docx (user-supplied)</a:t>
            </a:r>
          </a:p>
          <a:p xmlns:a="http://schemas.openxmlformats.org/drawingml/2006/main">
            <a:r>
              <a:t>- All figures shown are team estimates or proposed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Joy Page 10-12词 new.docx (user-supplied)</a:t>
            </a:r>
          </a:p>
          <a:p xmlns:a="http://schemas.openxmlformats.org/drawingml/2006/main">
            <a:r>
              <a:t>- All figures shown are team estimates or proposed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2e14a41bf4d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10b42757c4f02" /><Relationship Type="http://schemas.openxmlformats.org/officeDocument/2006/relationships/slideLayout" Target="/ppt/slideLayouts/slideLayout1.xml" Id="Ra64131664b4942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4131664b4942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3809726a64407" /><Relationship Type="http://schemas.openxmlformats.org/officeDocument/2006/relationships/notesSlide" Target="/ppt/notesSlides/notesSlide1.xml" Id="R5b3aec371cd6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bbbcb2ab44d64" /><Relationship Type="http://schemas.openxmlformats.org/officeDocument/2006/relationships/notesSlide" Target="/ppt/notesSlides/notesSlide2.xml" Id="R9ae94fb6cd89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5c598a62a498d" /><Relationship Type="http://schemas.openxmlformats.org/officeDocument/2006/relationships/notesSlide" Target="/ppt/notesSlides/notesSlide3.xml" Id="R1ca7737bede34e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number-1">
            <a:extLst xmlns:a="http://schemas.openxmlformats.org/drawingml/2006/main">
              <a:ext uri="{FF2B5EF4-FFF2-40B4-BE49-F238E27FC236}">
                <a16:creationId xmlns:a16="http://schemas.microsoft.com/office/drawing/2014/main" id="{95337279-4C60-421B-A77F-C3869DF2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umber-label-1">
            <a:extLst xmlns:a="http://schemas.openxmlformats.org/drawingml/2006/main">
              <a:ext uri="{FF2B5EF4-FFF2-40B4-BE49-F238E27FC236}">
                <a16:creationId xmlns:a16="http://schemas.microsoft.com/office/drawing/2014/main" id="{B9D15580-D8B0-4607-A32A-3C2B1E65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4E149795-5AF5-4A01-A2BB-9494F5FC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AI turns four pilots into a repeatable industrial-city playbook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69C7CD0F-C852-40C4-A3F3-C627E579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B00000"/>
                </a:solidFill>
              </a:defRPr>
            </a:pPr>
            <a:r>
              <a:rPr sz="1050" b="0">
                <a:solidFill>
                  <a:srgbClr val="B00000"/>
                </a:solidFill>
              </a:rPr>
              <a:t>Validate at near-zero model cost, distill locally, then encode proven rules for faster expansion.</a:t>
            </a:r>
          </a:p>
        </p:txBody>
      </p:sp>
      <p:sp>
        <p:nvSpPr>
          <p:cNvPr id="5" name="header-1-01 · VALIDATE">
            <a:extLst xmlns:a="http://schemas.openxmlformats.org/drawingml/2006/main">
              <a:ext uri="{FF2B5EF4-FFF2-40B4-BE49-F238E27FC236}">
                <a16:creationId xmlns:a16="http://schemas.microsoft.com/office/drawing/2014/main" id="{ADA6BF79-8DBB-4C1E-81A8-86B04A23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er-text-1-01 · VALIDATE">
            <a:extLst xmlns:a="http://schemas.openxmlformats.org/drawingml/2006/main">
              <a:ext uri="{FF2B5EF4-FFF2-40B4-BE49-F238E27FC236}">
                <a16:creationId xmlns:a16="http://schemas.microsoft.com/office/drawing/2014/main" id="{94C01529-4DCD-40D1-B165-2A73B65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 · VALIDATE</a:t>
            </a:r>
          </a:p>
        </p:txBody>
      </p:sp>
      <p:sp>
        <p:nvSpPr>
          <p:cNvPr id="7" name="stage-box-0">
            <a:extLst xmlns:a="http://schemas.openxmlformats.org/drawingml/2006/main">
              <a:ext uri="{FF2B5EF4-FFF2-40B4-BE49-F238E27FC236}">
                <a16:creationId xmlns:a16="http://schemas.microsoft.com/office/drawing/2014/main" id="{03EBBBD6-99BF-43DC-893A-8901EC4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9527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stage-time-0">
            <a:extLst xmlns:a="http://schemas.openxmlformats.org/drawingml/2006/main">
              <a:ext uri="{FF2B5EF4-FFF2-40B4-BE49-F238E27FC236}">
                <a16:creationId xmlns:a16="http://schemas.microsoft.com/office/drawing/2014/main" id="{693DEC6F-5F60-4856-A9ED-466BEBC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B00000"/>
                </a:solidFill>
              </a:defRPr>
            </a:pPr>
            <a:r>
              <a:rPr sz="975" b="1">
                <a:solidFill>
                  <a:srgbClr val="B00000"/>
                </a:solidFill>
              </a:rPr>
              <a:t>2026 H1–H2</a:t>
            </a:r>
          </a:p>
        </p:txBody>
      </p:sp>
      <p:sp>
        <p:nvSpPr>
          <p:cNvPr id="9" name="stage-model-0">
            <a:extLst xmlns:a="http://schemas.openxmlformats.org/drawingml/2006/main">
              <a:ext uri="{FF2B5EF4-FFF2-40B4-BE49-F238E27FC236}">
                <a16:creationId xmlns:a16="http://schemas.microsoft.com/office/drawing/2014/main" id="{442CF0D8-74DA-4CBB-AD33-B501F5C5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60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LongCat</a:t>
            </a:r>
          </a:p>
        </p:txBody>
      </p:sp>
      <p:sp>
        <p:nvSpPr>
          <p:cNvPr id="10" name="stage-desc-0">
            <a:extLst xmlns:a="http://schemas.openxmlformats.org/drawingml/2006/main">
              <a:ext uri="{FF2B5EF4-FFF2-40B4-BE49-F238E27FC236}">
                <a16:creationId xmlns:a16="http://schemas.microsoft.com/office/drawing/2014/main" id="{D96CD925-C556-4084-8BFC-A4F26B56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Open-source agent experiments</a:t>
            </a:r>
          </a:p>
        </p:txBody>
      </p:sp>
      <p:sp>
        <p:nvSpPr>
          <p:cNvPr id="11" name="stage-rule-0">
            <a:extLst xmlns:a="http://schemas.openxmlformats.org/drawingml/2006/main">
              <a:ext uri="{FF2B5EF4-FFF2-40B4-BE49-F238E27FC236}">
                <a16:creationId xmlns:a16="http://schemas.microsoft.com/office/drawing/2014/main" id="{B5D75834-10D5-4EDF-9808-DBA6571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260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pilots-0">
            <a:extLst xmlns:a="http://schemas.openxmlformats.org/drawingml/2006/main">
              <a:ext uri="{FF2B5EF4-FFF2-40B4-BE49-F238E27FC236}">
                <a16:creationId xmlns:a16="http://schemas.microsoft.com/office/drawing/2014/main" id="{8CFDE91F-554E-417E-81B5-7003975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2609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Pilot 1 subsidy tiers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Pilot 2 personalized cross-sell</a:t>
            </a:r>
          </a:p>
        </p:txBody>
      </p:sp>
      <p:sp>
        <p:nvSpPr>
          <p:cNvPr id="13" name="header-2-02 · DISTILL">
            <a:extLst xmlns:a="http://schemas.openxmlformats.org/drawingml/2006/main">
              <a:ext uri="{FF2B5EF4-FFF2-40B4-BE49-F238E27FC236}">
                <a16:creationId xmlns:a16="http://schemas.microsoft.com/office/drawing/2014/main" id="{69CB979E-C7F1-418D-99C9-D48947A8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668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eader-text-2-02 · DISTILL">
            <a:extLst xmlns:a="http://schemas.openxmlformats.org/drawingml/2006/main">
              <a:ext uri="{FF2B5EF4-FFF2-40B4-BE49-F238E27FC236}">
                <a16:creationId xmlns:a16="http://schemas.microsoft.com/office/drawing/2014/main" id="{03F2E09B-C4C7-44EB-A19C-9F1F8C27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66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 · DISTILL</a:t>
            </a:r>
          </a:p>
        </p:txBody>
      </p:sp>
      <p:sp>
        <p:nvSpPr>
          <p:cNvPr id="15" name="stage-box-1">
            <a:extLst xmlns:a="http://schemas.openxmlformats.org/drawingml/2006/main">
              <a:ext uri="{FF2B5EF4-FFF2-40B4-BE49-F238E27FC236}">
                <a16:creationId xmlns:a16="http://schemas.microsoft.com/office/drawing/2014/main" id="{908A7B18-7028-4F0F-91D7-E8A8AAC7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52550"/>
            <a:ext cx="29527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6" name="stage-time-1">
            <a:extLst xmlns:a="http://schemas.openxmlformats.org/drawingml/2006/main">
              <a:ext uri="{FF2B5EF4-FFF2-40B4-BE49-F238E27FC236}">
                <a16:creationId xmlns:a16="http://schemas.microsoft.com/office/drawing/2014/main" id="{24FAB642-8980-41BA-8922-FED958EA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049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B00000"/>
                </a:solidFill>
              </a:defRPr>
            </a:pPr>
            <a:r>
              <a:rPr sz="975" b="1">
                <a:solidFill>
                  <a:srgbClr val="B00000"/>
                </a:solidFill>
              </a:rPr>
              <a:t>From 2026 Q3</a:t>
            </a:r>
          </a:p>
        </p:txBody>
      </p:sp>
      <p:sp>
        <p:nvSpPr>
          <p:cNvPr id="17" name="stage-model-1">
            <a:extLst xmlns:a="http://schemas.openxmlformats.org/drawingml/2006/main">
              <a:ext uri="{FF2B5EF4-FFF2-40B4-BE49-F238E27FC236}">
                <a16:creationId xmlns:a16="http://schemas.microsoft.com/office/drawing/2014/main" id="{EB95F98A-1EF2-4EDA-9465-D80D3782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85950"/>
            <a:ext cx="260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DeepSeek V3 → 7B</a:t>
            </a:r>
          </a:p>
        </p:txBody>
      </p:sp>
      <p:sp>
        <p:nvSpPr>
          <p:cNvPr id="18" name="stage-desc-1">
            <a:extLst xmlns:a="http://schemas.openxmlformats.org/drawingml/2006/main">
              <a:ext uri="{FF2B5EF4-FFF2-40B4-BE49-F238E27FC236}">
                <a16:creationId xmlns:a16="http://schemas.microsoft.com/office/drawing/2014/main" id="{86655CED-2988-4899-AD26-0DE196BE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Local, real-time decisions</a:t>
            </a:r>
          </a:p>
        </p:txBody>
      </p:sp>
      <p:sp>
        <p:nvSpPr>
          <p:cNvPr id="19" name="stage-rule-1">
            <a:extLst xmlns:a="http://schemas.openxmlformats.org/drawingml/2006/main">
              <a:ext uri="{FF2B5EF4-FFF2-40B4-BE49-F238E27FC236}">
                <a16:creationId xmlns:a16="http://schemas.microsoft.com/office/drawing/2014/main" id="{818E2EDB-897A-400D-874D-955EF1DF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38450"/>
            <a:ext cx="260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pilots-1">
            <a:extLst xmlns:a="http://schemas.openxmlformats.org/drawingml/2006/main">
              <a:ext uri="{FF2B5EF4-FFF2-40B4-BE49-F238E27FC236}">
                <a16:creationId xmlns:a16="http://schemas.microsoft.com/office/drawing/2014/main" id="{FC07B951-105E-4E82-BC63-DAA564CE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2609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Pilot 1 auto-subsidy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Pilot 2 live recommendation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Pilot 3 dispatch &amp; replenishment</a:t>
            </a:r>
          </a:p>
        </p:txBody>
      </p:sp>
      <p:sp>
        <p:nvSpPr>
          <p:cNvPr id="21" name="header-3-03 · INSTITUTIONALISE">
            <a:extLst xmlns:a="http://schemas.openxmlformats.org/drawingml/2006/main">
              <a:ext uri="{FF2B5EF4-FFF2-40B4-BE49-F238E27FC236}">
                <a16:creationId xmlns:a16="http://schemas.microsoft.com/office/drawing/2014/main" id="{BF442CD8-596F-4D09-93C1-7DFE45B0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66800"/>
            <a:ext cx="3457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eader-text-3-03 · INSTITUTIONALISE">
            <a:extLst xmlns:a="http://schemas.openxmlformats.org/drawingml/2006/main">
              <a:ext uri="{FF2B5EF4-FFF2-40B4-BE49-F238E27FC236}">
                <a16:creationId xmlns:a16="http://schemas.microsoft.com/office/drawing/2014/main" id="{BF80B97D-69FD-4E70-9AC9-9807AE27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66800"/>
            <a:ext cx="3228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 · INSTITUTIONALISE</a:t>
            </a:r>
          </a:p>
        </p:txBody>
      </p:sp>
      <p:sp>
        <p:nvSpPr>
          <p:cNvPr id="23" name="stage-box-2">
            <a:extLst xmlns:a="http://schemas.openxmlformats.org/drawingml/2006/main">
              <a:ext uri="{FF2B5EF4-FFF2-40B4-BE49-F238E27FC236}">
                <a16:creationId xmlns:a16="http://schemas.microsoft.com/office/drawing/2014/main" id="{E168A684-7E3D-453D-9814-7FC8AFEC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352550"/>
            <a:ext cx="34575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4" name="stage-time-2">
            <a:extLst xmlns:a="http://schemas.openxmlformats.org/drawingml/2006/main">
              <a:ext uri="{FF2B5EF4-FFF2-40B4-BE49-F238E27FC236}">
                <a16:creationId xmlns:a16="http://schemas.microsoft.com/office/drawing/2014/main" id="{D8C528A5-81AC-43DD-B16E-D19213E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B00000"/>
                </a:solidFill>
              </a:defRPr>
            </a:pPr>
            <a:r>
              <a:rPr sz="975" b="1">
                <a:solidFill>
                  <a:srgbClr val="B00000"/>
                </a:solidFill>
              </a:rPr>
              <a:t>2027–2028</a:t>
            </a:r>
          </a:p>
        </p:txBody>
      </p:sp>
      <p:sp>
        <p:nvSpPr>
          <p:cNvPr id="25" name="stage-model-2">
            <a:extLst xmlns:a="http://schemas.openxmlformats.org/drawingml/2006/main">
              <a:ext uri="{FF2B5EF4-FFF2-40B4-BE49-F238E27FC236}">
                <a16:creationId xmlns:a16="http://schemas.microsoft.com/office/drawing/2014/main" id="{B7659B14-4788-40D7-9E0A-47E97802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311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Playbook JSON</a:t>
            </a:r>
          </a:p>
        </p:txBody>
      </p:sp>
      <p:sp>
        <p:nvSpPr>
          <p:cNvPr id="26" name="stage-desc-2">
            <a:extLst xmlns:a="http://schemas.openxmlformats.org/drawingml/2006/main">
              <a:ext uri="{FF2B5EF4-FFF2-40B4-BE49-F238E27FC236}">
                <a16:creationId xmlns:a16="http://schemas.microsoft.com/office/drawing/2014/main" id="{8C1983D2-479E-4C44-9CC6-0C00B721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114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Codify repeatedly proven rules</a:t>
            </a:r>
          </a:p>
        </p:txBody>
      </p:sp>
      <p:sp>
        <p:nvSpPr>
          <p:cNvPr id="27" name="stage-rule-2">
            <a:extLst xmlns:a="http://schemas.openxmlformats.org/drawingml/2006/main">
              <a:ext uri="{FF2B5EF4-FFF2-40B4-BE49-F238E27FC236}">
                <a16:creationId xmlns:a16="http://schemas.microsoft.com/office/drawing/2014/main" id="{1272924E-ADF8-4529-97F7-4904D504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38450"/>
            <a:ext cx="311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ge-pilots-2">
            <a:extLst xmlns:a="http://schemas.openxmlformats.org/drawingml/2006/main">
              <a:ext uri="{FF2B5EF4-FFF2-40B4-BE49-F238E27FC236}">
                <a16:creationId xmlns:a16="http://schemas.microsoft.com/office/drawing/2014/main" id="{48FA3497-BBAD-4F2F-8465-8E556291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90850"/>
            <a:ext cx="3114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Load Xuzhou learning into new cities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Target 18-month break-even</a:t>
            </a:r>
          </a:p>
        </p:txBody>
      </p:sp>
      <p:sp>
        <p:nvSpPr>
          <p:cNvPr id="29" name="header-4-ECONOMIC LOGIC">
            <a:extLst xmlns:a="http://schemas.openxmlformats.org/drawingml/2006/main">
              <a:ext uri="{FF2B5EF4-FFF2-40B4-BE49-F238E27FC236}">
                <a16:creationId xmlns:a16="http://schemas.microsoft.com/office/drawing/2014/main" id="{47D106CA-8E2A-4706-AC9D-61CCE5D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eader-text-4-ECONOMIC LOGIC">
            <a:extLst xmlns:a="http://schemas.openxmlformats.org/drawingml/2006/main">
              <a:ext uri="{FF2B5EF4-FFF2-40B4-BE49-F238E27FC236}">
                <a16:creationId xmlns:a16="http://schemas.microsoft.com/office/drawing/2014/main" id="{8A6A6EFA-9E0C-4121-AFD4-99174CBD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ECONOMIC LOGIC</a:t>
            </a:r>
          </a:p>
        </p:txBody>
      </p:sp>
      <p:sp>
        <p:nvSpPr>
          <p:cNvPr id="31" name="economic-panel">
            <a:extLst xmlns:a="http://schemas.openxmlformats.org/drawingml/2006/main">
              <a:ext uri="{FF2B5EF4-FFF2-40B4-BE49-F238E27FC236}">
                <a16:creationId xmlns:a16="http://schemas.microsoft.com/office/drawing/2014/main" id="{CEAA70C6-BD1F-4D52-A219-4DE1FD3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2" name="metric-0">
            <a:extLst xmlns:a="http://schemas.openxmlformats.org/drawingml/2006/main">
              <a:ext uri="{FF2B5EF4-FFF2-40B4-BE49-F238E27FC236}">
                <a16:creationId xmlns:a16="http://schemas.microsoft.com/office/drawing/2014/main" id="{CDC7B43D-28B6-4F31-8E35-6E34939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RMB 3M</a:t>
            </a:r>
          </a:p>
        </p:txBody>
      </p:sp>
      <p:sp>
        <p:nvSpPr>
          <p:cNvPr id="33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1A84B605-4ECA-47A7-8E21-13F5B635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AI investment</a:t>
            </a:r>
          </a:p>
        </p:txBody>
      </p:sp>
      <p:sp>
        <p:nvSpPr>
          <p:cNvPr id="34" name="metric-divider-0">
            <a:extLst xmlns:a="http://schemas.openxmlformats.org/drawingml/2006/main">
              <a:ext uri="{FF2B5EF4-FFF2-40B4-BE49-F238E27FC236}">
                <a16:creationId xmlns:a16="http://schemas.microsoft.com/office/drawing/2014/main" id="{FF936CC4-440F-4B0E-9D4E-17266D64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etric-1">
            <a:extLst xmlns:a="http://schemas.openxmlformats.org/drawingml/2006/main">
              <a:ext uri="{FF2B5EF4-FFF2-40B4-BE49-F238E27FC236}">
                <a16:creationId xmlns:a16="http://schemas.microsoft.com/office/drawing/2014/main" id="{3EBB63B2-5896-4673-8703-945C4A0E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B00000"/>
                </a:solidFill>
              </a:defRPr>
            </a:pPr>
            <a:r>
              <a:rPr sz="2025" b="1">
                <a:solidFill>
                  <a:srgbClr val="B00000"/>
                </a:solidFill>
              </a:rPr>
              <a:t>RMB 9–13M</a:t>
            </a:r>
          </a:p>
        </p:txBody>
      </p:sp>
      <p:sp>
        <p:nvSpPr>
          <p:cNvPr id="3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4104A05-952C-4213-A443-11C9B098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0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additional pilot profit</a:t>
            </a:r>
          </a:p>
        </p:txBody>
      </p:sp>
      <p:sp>
        <p:nvSpPr>
          <p:cNvPr id="37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D7543592-4502-4A24-B827-D90F9E0C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8635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etric-2">
            <a:extLst xmlns:a="http://schemas.openxmlformats.org/drawingml/2006/main">
              <a:ext uri="{FF2B5EF4-FFF2-40B4-BE49-F238E27FC236}">
                <a16:creationId xmlns:a16="http://schemas.microsoft.com/office/drawing/2014/main" id="{7A962EFC-4A6B-4C65-B62A-AB4E4210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36 → 18 mo.</a:t>
            </a:r>
          </a:p>
        </p:txBody>
      </p:sp>
      <p:sp>
        <p:nvSpPr>
          <p:cNvPr id="3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D181D6CF-784C-4515-B279-738436B4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0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75" b="1">
                <a:solidFill>
                  <a:srgbClr val="777777"/>
                </a:solidFill>
              </a:defRPr>
            </a:pPr>
            <a:r>
              <a:rPr sz="975" b="1">
                <a:solidFill>
                  <a:srgbClr val="777777"/>
                </a:solidFill>
              </a:rPr>
              <a:t>new-city break-even</a:t>
            </a:r>
          </a:p>
        </p:txBody>
      </p:sp>
      <p:sp>
        <p:nvSpPr>
          <p:cNvPr id="40" name="economic-note">
            <a:extLst xmlns:a="http://schemas.openxmlformats.org/drawingml/2006/main">
              <a:ext uri="{FF2B5EF4-FFF2-40B4-BE49-F238E27FC236}">
                <a16:creationId xmlns:a16="http://schemas.microsoft.com/office/drawing/2014/main" id="{395BD990-0A8C-4D8F-BA76-74182BE8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927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00" b="1">
                <a:solidFill>
                  <a:srgbClr val="B00000"/>
                </a:solidFill>
              </a:defRPr>
            </a:pPr>
            <a:r>
              <a:rPr sz="900" b="1">
                <a:solidFill>
                  <a:srgbClr val="B00000"/>
                </a:solidFill>
              </a:rPr>
              <a:t>Model layer is illustrative; value comes from tighter operating decisions and reusable rules, not from AI branding alone.</a:t>
            </a:r>
          </a:p>
        </p:txBody>
      </p:sp>
      <p:sp>
        <p:nvSpPr>
          <p:cNvPr id="41" name="source-1">
            <a:extLst xmlns:a="http://schemas.openxmlformats.org/drawingml/2006/main">
              <a:ext uri="{FF2B5EF4-FFF2-40B4-BE49-F238E27FC236}">
                <a16:creationId xmlns:a16="http://schemas.microsoft.com/office/drawing/2014/main" id="{17141163-A5A4-498E-A241-2AB62EF0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866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38" b="0">
                <a:solidFill>
                  <a:srgbClr val="777777"/>
                </a:solidFill>
              </a:defRPr>
            </a:pPr>
            <a:r>
              <a:rPr sz="638" b="0">
                <a:solidFill>
                  <a:srgbClr val="777777"/>
                </a:solidFill>
              </a:rPr>
              <a:t>Source: supplied speaker script · All figures are team estimates / proposed targets</a:t>
            </a:r>
          </a:p>
        </p:txBody>
      </p:sp>
      <p:sp>
        <p:nvSpPr>
          <p:cNvPr id="42" name="page-1">
            <a:extLst xmlns:a="http://schemas.openxmlformats.org/drawingml/2006/main">
              <a:ext uri="{FF2B5EF4-FFF2-40B4-BE49-F238E27FC236}">
                <a16:creationId xmlns:a16="http://schemas.microsoft.com/office/drawing/2014/main" id="{B8092632-E124-4F4D-A7A1-F1373438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675" b="1">
                <a:solidFill>
                  <a:srgbClr val="777777"/>
                </a:solidFill>
              </a:defRPr>
            </a:pPr>
            <a:r>
              <a:rPr sz="675" b="1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43" name="takeaway-KEY TAKEAWAY">
            <a:extLst xmlns:a="http://schemas.openxmlformats.org/drawingml/2006/main">
              <a:ext uri="{FF2B5EF4-FFF2-40B4-BE49-F238E27FC236}">
                <a16:creationId xmlns:a16="http://schemas.microsoft.com/office/drawing/2014/main" id="{6CB3DE22-5200-4D20-9237-18322BA9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743700"/>
            <a:ext cx="10010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akeaway-label-KEY TAKEAWAY">
            <a:extLst xmlns:a="http://schemas.openxmlformats.org/drawingml/2006/main">
              <a:ext uri="{FF2B5EF4-FFF2-40B4-BE49-F238E27FC236}">
                <a16:creationId xmlns:a16="http://schemas.microsoft.com/office/drawing/2014/main" id="{5906DD29-1946-4472-A806-C9B93B0A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00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45" name="takeaway-rule-KEY TAKEAWAY">
            <a:extLst xmlns:a="http://schemas.openxmlformats.org/drawingml/2006/main">
              <a:ext uri="{FF2B5EF4-FFF2-40B4-BE49-F238E27FC236}">
                <a16:creationId xmlns:a16="http://schemas.microsoft.com/office/drawing/2014/main" id="{1A949811-52A1-42CE-9EFA-73B03900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8389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akeaway-copy-KEY TAKEAWAY">
            <a:extLst xmlns:a="http://schemas.openxmlformats.org/drawingml/2006/main">
              <a:ext uri="{FF2B5EF4-FFF2-40B4-BE49-F238E27FC236}">
                <a16:creationId xmlns:a16="http://schemas.microsoft.com/office/drawing/2014/main" id="{12883332-0F32-4037-B085-5B3C2985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7913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AI is the multiplier: prove rules in Xuzhou, automate them locally, then transfer the learning to satellite cities.</a:t>
            </a:r>
          </a:p>
        </p:txBody>
      </p:sp>
    </p:spTree>
    <p:extLst>
      <p:ext uri="{BB962C8B-B14F-4D97-AF65-F5344CB8AC3E}">
        <p14:creationId xmlns:p14="http://schemas.microsoft.com/office/powerpoint/2010/main" val="651327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number-2">
            <a:extLst xmlns:a="http://schemas.openxmlformats.org/drawingml/2006/main">
              <a:ext uri="{FF2B5EF4-FFF2-40B4-BE49-F238E27FC236}">
                <a16:creationId xmlns:a16="http://schemas.microsoft.com/office/drawing/2014/main" id="{EB1BBB46-B8CC-4248-85BE-1884A9B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umber-label-2">
            <a:extLst xmlns:a="http://schemas.openxmlformats.org/drawingml/2006/main">
              <a:ext uri="{FF2B5EF4-FFF2-40B4-BE49-F238E27FC236}">
                <a16:creationId xmlns:a16="http://schemas.microsoft.com/office/drawing/2014/main" id="{66C47E81-F42B-40A2-B655-3741785A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D8A2374B-91A3-4CF1-BC95-9D962915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Fix economics in 2026, amplify with AI, and scale by 2030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E9249F4C-464B-4FFC-A5A6-6388719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B00000"/>
                </a:solidFill>
              </a:defRPr>
            </a:pPr>
            <a:r>
              <a:rPr sz="1050" b="0">
                <a:solidFill>
                  <a:srgbClr val="B00000"/>
                </a:solidFill>
              </a:rPr>
              <a:t>Four pilots start in parallel; stage gates convert local improvement into portfolio-wide replication.</a:t>
            </a:r>
          </a:p>
        </p:txBody>
      </p:sp>
      <p:sp>
        <p:nvSpPr>
          <p:cNvPr id="5" name="header-1-2026–2030 DELIVERY ROADMAP">
            <a:extLst xmlns:a="http://schemas.openxmlformats.org/drawingml/2006/main">
              <a:ext uri="{FF2B5EF4-FFF2-40B4-BE49-F238E27FC236}">
                <a16:creationId xmlns:a16="http://schemas.microsoft.com/office/drawing/2014/main" id="{A79ABE2D-4676-4239-8671-37919E8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95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er-text-1-2026–2030 DELIVERY ROADMAP">
            <a:extLst xmlns:a="http://schemas.openxmlformats.org/drawingml/2006/main">
              <a:ext uri="{FF2B5EF4-FFF2-40B4-BE49-F238E27FC236}">
                <a16:creationId xmlns:a16="http://schemas.microsoft.com/office/drawing/2014/main" id="{44E857AC-369C-4923-810B-5662926F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2026–2030 DELIVERY ROADMAP</a:t>
            </a:r>
          </a:p>
        </p:txBody>
      </p:sp>
      <p:sp>
        <p:nvSpPr>
          <p:cNvPr id="7" name="roadmap-frame">
            <a:extLst xmlns:a="http://schemas.openxmlformats.org/drawingml/2006/main">
              <a:ext uri="{FF2B5EF4-FFF2-40B4-BE49-F238E27FC236}">
                <a16:creationId xmlns:a16="http://schemas.microsoft.com/office/drawing/2014/main" id="{2AA3724E-145E-485E-8938-5DC40315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953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year-head-0">
            <a:extLst xmlns:a="http://schemas.openxmlformats.org/drawingml/2006/main">
              <a:ext uri="{FF2B5EF4-FFF2-40B4-BE49-F238E27FC236}">
                <a16:creationId xmlns:a16="http://schemas.microsoft.com/office/drawing/2014/main" id="{A4D9DFC3-F133-4944-AEED-1A0DD56F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04950"/>
            <a:ext cx="962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year-0">
            <a:extLst xmlns:a="http://schemas.openxmlformats.org/drawingml/2006/main">
              <a:ext uri="{FF2B5EF4-FFF2-40B4-BE49-F238E27FC236}">
                <a16:creationId xmlns:a16="http://schemas.microsoft.com/office/drawing/2014/main" id="{DC40633B-CC45-4FFD-8FC0-B11E94D9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04950"/>
            <a:ext cx="96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2026 H1</a:t>
            </a:r>
          </a:p>
        </p:txBody>
      </p:sp>
      <p:sp>
        <p:nvSpPr>
          <p:cNvPr id="10" name="year-head-1">
            <a:extLst xmlns:a="http://schemas.openxmlformats.org/drawingml/2006/main">
              <a:ext uri="{FF2B5EF4-FFF2-40B4-BE49-F238E27FC236}">
                <a16:creationId xmlns:a16="http://schemas.microsoft.com/office/drawing/2014/main" id="{CB7DB8BB-461C-4B81-9A22-D0EA9AA4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962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year-1">
            <a:extLst xmlns:a="http://schemas.openxmlformats.org/drawingml/2006/main">
              <a:ext uri="{FF2B5EF4-FFF2-40B4-BE49-F238E27FC236}">
                <a16:creationId xmlns:a16="http://schemas.microsoft.com/office/drawing/2014/main" id="{58E82EC8-77BB-40A9-86BE-91AF1E45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96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2026 H2</a:t>
            </a:r>
          </a:p>
        </p:txBody>
      </p:sp>
      <p:sp>
        <p:nvSpPr>
          <p:cNvPr id="12" name="year-head-2">
            <a:extLst xmlns:a="http://schemas.openxmlformats.org/drawingml/2006/main">
              <a:ext uri="{FF2B5EF4-FFF2-40B4-BE49-F238E27FC236}">
                <a16:creationId xmlns:a16="http://schemas.microsoft.com/office/drawing/2014/main" id="{C28F2687-73BE-4966-8B1F-B1C7A43D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962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year-2">
            <a:extLst xmlns:a="http://schemas.openxmlformats.org/drawingml/2006/main">
              <a:ext uri="{FF2B5EF4-FFF2-40B4-BE49-F238E27FC236}">
                <a16:creationId xmlns:a16="http://schemas.microsoft.com/office/drawing/2014/main" id="{D865C212-7607-44FB-AA8F-4FC30B20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96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4" name="year-head-3">
            <a:extLst xmlns:a="http://schemas.openxmlformats.org/drawingml/2006/main">
              <a:ext uri="{FF2B5EF4-FFF2-40B4-BE49-F238E27FC236}">
                <a16:creationId xmlns:a16="http://schemas.microsoft.com/office/drawing/2014/main" id="{9038FDB8-48B6-41DA-BF6A-8A18EEBB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04950"/>
            <a:ext cx="962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year-3">
            <a:extLst xmlns:a="http://schemas.openxmlformats.org/drawingml/2006/main">
              <a:ext uri="{FF2B5EF4-FFF2-40B4-BE49-F238E27FC236}">
                <a16:creationId xmlns:a16="http://schemas.microsoft.com/office/drawing/2014/main" id="{72FDC86A-A27C-4F25-8F64-F0D4433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04950"/>
            <a:ext cx="96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6" name="year-head-4">
            <a:extLst xmlns:a="http://schemas.openxmlformats.org/drawingml/2006/main">
              <a:ext uri="{FF2B5EF4-FFF2-40B4-BE49-F238E27FC236}">
                <a16:creationId xmlns:a16="http://schemas.microsoft.com/office/drawing/2014/main" id="{90016261-2F1B-4322-828E-EBE8772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62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year-4">
            <a:extLst xmlns:a="http://schemas.openxmlformats.org/drawingml/2006/main">
              <a:ext uri="{FF2B5EF4-FFF2-40B4-BE49-F238E27FC236}">
                <a16:creationId xmlns:a16="http://schemas.microsoft.com/office/drawing/2014/main" id="{EE6C65ED-DA9C-4E95-B1AF-36D7782C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6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2030</a:t>
            </a:r>
          </a:p>
        </p:txBody>
      </p:sp>
      <p:sp>
        <p:nvSpPr>
          <p:cNvPr id="18" name="row-label-0">
            <a:extLst xmlns:a="http://schemas.openxmlformats.org/drawingml/2006/main">
              <a:ext uri="{FF2B5EF4-FFF2-40B4-BE49-F238E27FC236}">
                <a16:creationId xmlns:a16="http://schemas.microsoft.com/office/drawing/2014/main" id="{2302477E-0A8F-4F49-91E5-330C1094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P1 · Subsidy</a:t>
            </a:r>
          </a:p>
        </p:txBody>
      </p:sp>
      <p:sp>
        <p:nvSpPr>
          <p:cNvPr id="19" name="cell-0-0">
            <a:extLst xmlns:a="http://schemas.openxmlformats.org/drawingml/2006/main">
              <a:ext uri="{FF2B5EF4-FFF2-40B4-BE49-F238E27FC236}">
                <a16:creationId xmlns:a16="http://schemas.microsoft.com/office/drawing/2014/main" id="{A863D32F-03D5-4D91-9F07-2B13BDB3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24316744-C1D7-457B-9218-A03CCAB1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21" name="cell-0-1">
            <a:extLst xmlns:a="http://schemas.openxmlformats.org/drawingml/2006/main">
              <a:ext uri="{FF2B5EF4-FFF2-40B4-BE49-F238E27FC236}">
                <a16:creationId xmlns:a16="http://schemas.microsoft.com/office/drawing/2014/main" id="{C8DA6137-7E02-4FF5-B0F0-2E05FD73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34B0A011-3FEB-4C0B-8393-E87C692E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23" name="cell-0-2">
            <a:extLst xmlns:a="http://schemas.openxmlformats.org/drawingml/2006/main">
              <a:ext uri="{FF2B5EF4-FFF2-40B4-BE49-F238E27FC236}">
                <a16:creationId xmlns:a16="http://schemas.microsoft.com/office/drawing/2014/main" id="{D282C9B5-8D34-40B0-8A89-6302513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323D783F-FD39-446B-A268-7B00F447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25" name="cell-0-3">
            <a:extLst xmlns:a="http://schemas.openxmlformats.org/drawingml/2006/main">
              <a:ext uri="{FF2B5EF4-FFF2-40B4-BE49-F238E27FC236}">
                <a16:creationId xmlns:a16="http://schemas.microsoft.com/office/drawing/2014/main" id="{4837B3DF-7DDA-4DC8-A056-D26C2B40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cell-0-4">
            <a:extLst xmlns:a="http://schemas.openxmlformats.org/drawingml/2006/main">
              <a:ext uri="{FF2B5EF4-FFF2-40B4-BE49-F238E27FC236}">
                <a16:creationId xmlns:a16="http://schemas.microsoft.com/office/drawing/2014/main" id="{B6750F88-8DC0-4BA3-9C51-B0DD057B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row-label-1">
            <a:extLst xmlns:a="http://schemas.openxmlformats.org/drawingml/2006/main">
              <a:ext uri="{FF2B5EF4-FFF2-40B4-BE49-F238E27FC236}">
                <a16:creationId xmlns:a16="http://schemas.microsoft.com/office/drawing/2014/main" id="{9477698E-2BFB-49FF-964C-DB4E9F2D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P2 · Category</a:t>
            </a:r>
          </a:p>
        </p:txBody>
      </p:sp>
      <p:sp>
        <p:nvSpPr>
          <p:cNvPr id="28" name="cell-1-0">
            <a:extLst xmlns:a="http://schemas.openxmlformats.org/drawingml/2006/main">
              <a:ext uri="{FF2B5EF4-FFF2-40B4-BE49-F238E27FC236}">
                <a16:creationId xmlns:a16="http://schemas.microsoft.com/office/drawing/2014/main" id="{CE587593-C35A-4C04-91CA-F675D809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55D42B57-0995-402F-BB6B-855710E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30" name="cell-1-1">
            <a:extLst xmlns:a="http://schemas.openxmlformats.org/drawingml/2006/main">
              <a:ext uri="{FF2B5EF4-FFF2-40B4-BE49-F238E27FC236}">
                <a16:creationId xmlns:a16="http://schemas.microsoft.com/office/drawing/2014/main" id="{55DCA3D3-8CED-4195-BEF6-501B80C5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908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468FEE45-3846-41B1-8432-49666E81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908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32" name="cell-1-2">
            <a:extLst xmlns:a="http://schemas.openxmlformats.org/drawingml/2006/main">
              <a:ext uri="{FF2B5EF4-FFF2-40B4-BE49-F238E27FC236}">
                <a16:creationId xmlns:a16="http://schemas.microsoft.com/office/drawing/2014/main" id="{35AB22FF-590D-4AD8-BFE4-E381E8CC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77A3246C-6D9E-4BAF-95BA-37CC8DDE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34" name="cell-1-3">
            <a:extLst xmlns:a="http://schemas.openxmlformats.org/drawingml/2006/main">
              <a:ext uri="{FF2B5EF4-FFF2-40B4-BE49-F238E27FC236}">
                <a16:creationId xmlns:a16="http://schemas.microsoft.com/office/drawing/2014/main" id="{842BCFFE-02AA-4287-A3E5-20709D0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908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cell-1-4">
            <a:extLst xmlns:a="http://schemas.openxmlformats.org/drawingml/2006/main">
              <a:ext uri="{FF2B5EF4-FFF2-40B4-BE49-F238E27FC236}">
                <a16:creationId xmlns:a16="http://schemas.microsoft.com/office/drawing/2014/main" id="{BB19B9B6-F7F0-4DB6-AB82-E20CA1C4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E87357C0-D833-4679-A262-CFD30BE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P3 · Dark store</a:t>
            </a:r>
          </a:p>
        </p:txBody>
      </p:sp>
      <p:sp>
        <p:nvSpPr>
          <p:cNvPr id="37" name="cell-2-0">
            <a:extLst xmlns:a="http://schemas.openxmlformats.org/drawingml/2006/main">
              <a:ext uri="{FF2B5EF4-FFF2-40B4-BE49-F238E27FC236}">
                <a16:creationId xmlns:a16="http://schemas.microsoft.com/office/drawing/2014/main" id="{D38FC917-7910-463F-974B-D2360214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813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57807DFB-6AC2-41E0-B479-2FBE874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813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39" name="cell-2-1">
            <a:extLst xmlns:a="http://schemas.openxmlformats.org/drawingml/2006/main">
              <a:ext uri="{FF2B5EF4-FFF2-40B4-BE49-F238E27FC236}">
                <a16:creationId xmlns:a16="http://schemas.microsoft.com/office/drawing/2014/main" id="{2B62AF64-15CF-4AE3-A26E-34E038E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813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3229DCFE-C9C9-4EDB-A21D-AFF04B36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813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41" name="cell-2-2">
            <a:extLst xmlns:a="http://schemas.openxmlformats.org/drawingml/2006/main">
              <a:ext uri="{FF2B5EF4-FFF2-40B4-BE49-F238E27FC236}">
                <a16:creationId xmlns:a16="http://schemas.microsoft.com/office/drawing/2014/main" id="{9B1C55A3-EDA3-4487-AE70-5C5D606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19C9B6A5-99C8-4A1B-85A5-B9669AE0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43" name="cell-2-3">
            <a:extLst xmlns:a="http://schemas.openxmlformats.org/drawingml/2006/main">
              <a:ext uri="{FF2B5EF4-FFF2-40B4-BE49-F238E27FC236}">
                <a16:creationId xmlns:a16="http://schemas.microsoft.com/office/drawing/2014/main" id="{57F630DA-533C-4D22-857C-2A806B8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813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cell-2-4">
            <a:extLst xmlns:a="http://schemas.openxmlformats.org/drawingml/2006/main">
              <a:ext uri="{FF2B5EF4-FFF2-40B4-BE49-F238E27FC236}">
                <a16:creationId xmlns:a16="http://schemas.microsoft.com/office/drawing/2014/main" id="{79A3CE78-B3F7-484D-B6AA-4AF50FA2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813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row-label-3">
            <a:extLst xmlns:a="http://schemas.openxmlformats.org/drawingml/2006/main">
              <a:ext uri="{FF2B5EF4-FFF2-40B4-BE49-F238E27FC236}">
                <a16:creationId xmlns:a16="http://schemas.microsoft.com/office/drawing/2014/main" id="{8EAC3FD4-6B56-4F78-9532-615ACB0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P4 · AI Playbook</a:t>
            </a:r>
          </a:p>
        </p:txBody>
      </p:sp>
      <p:sp>
        <p:nvSpPr>
          <p:cNvPr id="46" name="cell-3-0">
            <a:extLst xmlns:a="http://schemas.openxmlformats.org/drawingml/2006/main">
              <a:ext uri="{FF2B5EF4-FFF2-40B4-BE49-F238E27FC236}">
                <a16:creationId xmlns:a16="http://schemas.microsoft.com/office/drawing/2014/main" id="{A0512823-13E9-4BC2-B612-B924C475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A05E779C-F717-4F0D-984C-4FE868B5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48" name="cell-3-1">
            <a:extLst xmlns:a="http://schemas.openxmlformats.org/drawingml/2006/main">
              <a:ext uri="{FF2B5EF4-FFF2-40B4-BE49-F238E27FC236}">
                <a16:creationId xmlns:a16="http://schemas.microsoft.com/office/drawing/2014/main" id="{D4129948-CDDE-4BB6-8823-C20B68DF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A5026246-E162-4409-BD0C-7A013F7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50" name="cell-3-2">
            <a:extLst xmlns:a="http://schemas.openxmlformats.org/drawingml/2006/main">
              <a:ext uri="{FF2B5EF4-FFF2-40B4-BE49-F238E27FC236}">
                <a16:creationId xmlns:a16="http://schemas.microsoft.com/office/drawing/2014/main" id="{9F3D3018-58BD-414A-8743-62E2329D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2774F201-40A5-459F-BAEE-FC19EF7C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52" name="cell-3-3">
            <a:extLst xmlns:a="http://schemas.openxmlformats.org/drawingml/2006/main">
              <a:ext uri="{FF2B5EF4-FFF2-40B4-BE49-F238E27FC236}">
                <a16:creationId xmlns:a16="http://schemas.microsoft.com/office/drawing/2014/main" id="{64977936-34A3-463A-89AC-1D0922A9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719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cell-text-3-3">
            <a:extLst xmlns:a="http://schemas.openxmlformats.org/drawingml/2006/main">
              <a:ext uri="{FF2B5EF4-FFF2-40B4-BE49-F238E27FC236}">
                <a16:creationId xmlns:a16="http://schemas.microsoft.com/office/drawing/2014/main" id="{7DBB2DA5-AEB3-4733-8D80-0997C8AD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719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54" name="cell-3-4">
            <a:extLst xmlns:a="http://schemas.openxmlformats.org/drawingml/2006/main">
              <a:ext uri="{FF2B5EF4-FFF2-40B4-BE49-F238E27FC236}">
                <a16:creationId xmlns:a16="http://schemas.microsoft.com/office/drawing/2014/main" id="{F335EC1D-7427-4DFC-8BCA-85647B1C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7190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cell-text-3-4">
            <a:extLst xmlns:a="http://schemas.openxmlformats.org/drawingml/2006/main">
              <a:ext uri="{FF2B5EF4-FFF2-40B4-BE49-F238E27FC236}">
                <a16:creationId xmlns:a16="http://schemas.microsoft.com/office/drawing/2014/main" id="{73C0B5AA-D844-4BEC-A98E-A3D4386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719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56" name="row-label-4">
            <a:extLst xmlns:a="http://schemas.openxmlformats.org/drawingml/2006/main">
              <a:ext uri="{FF2B5EF4-FFF2-40B4-BE49-F238E27FC236}">
                <a16:creationId xmlns:a16="http://schemas.microsoft.com/office/drawing/2014/main" id="{555FA550-BE7E-4DEE-8232-961471E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City rollout</a:t>
            </a:r>
          </a:p>
        </p:txBody>
      </p:sp>
      <p:sp>
        <p:nvSpPr>
          <p:cNvPr id="57" name="cell-4-0">
            <a:extLst xmlns:a="http://schemas.openxmlformats.org/drawingml/2006/main">
              <a:ext uri="{FF2B5EF4-FFF2-40B4-BE49-F238E27FC236}">
                <a16:creationId xmlns:a16="http://schemas.microsoft.com/office/drawing/2014/main" id="{AE33708B-5B29-4326-A80C-6BAFEC73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cell-4-1">
            <a:extLst xmlns:a="http://schemas.openxmlformats.org/drawingml/2006/main">
              <a:ext uri="{FF2B5EF4-FFF2-40B4-BE49-F238E27FC236}">
                <a16:creationId xmlns:a16="http://schemas.microsoft.com/office/drawing/2014/main" id="{27445C8C-B78C-42D0-A8B7-4E23F856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624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cell-4-2">
            <a:extLst xmlns:a="http://schemas.openxmlformats.org/drawingml/2006/main">
              <a:ext uri="{FF2B5EF4-FFF2-40B4-BE49-F238E27FC236}">
                <a16:creationId xmlns:a16="http://schemas.microsoft.com/office/drawing/2014/main" id="{00EB88AA-CF20-48CD-9FEC-247A3661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624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97FD4D6C-2CE5-49E4-B4DB-06A92006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624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61" name="cell-4-3">
            <a:extLst xmlns:a="http://schemas.openxmlformats.org/drawingml/2006/main">
              <a:ext uri="{FF2B5EF4-FFF2-40B4-BE49-F238E27FC236}">
                <a16:creationId xmlns:a16="http://schemas.microsoft.com/office/drawing/2014/main" id="{95DE364D-1EC1-4DB1-82B7-021AF54F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624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cell-text-4-3">
            <a:extLst xmlns:a="http://schemas.openxmlformats.org/drawingml/2006/main">
              <a:ext uri="{FF2B5EF4-FFF2-40B4-BE49-F238E27FC236}">
                <a16:creationId xmlns:a16="http://schemas.microsoft.com/office/drawing/2014/main" id="{EC3C7823-9B1D-4BDC-8304-36AADFC2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624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63" name="cell-4-4">
            <a:extLst xmlns:a="http://schemas.openxmlformats.org/drawingml/2006/main">
              <a:ext uri="{FF2B5EF4-FFF2-40B4-BE49-F238E27FC236}">
                <a16:creationId xmlns:a16="http://schemas.microsoft.com/office/drawing/2014/main" id="{F137F784-064D-48EC-99D7-D25E233B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962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cell-text-4-4">
            <a:extLst xmlns:a="http://schemas.openxmlformats.org/drawingml/2006/main">
              <a:ext uri="{FF2B5EF4-FFF2-40B4-BE49-F238E27FC236}">
                <a16:creationId xmlns:a16="http://schemas.microsoft.com/office/drawing/2014/main" id="{8F0843D1-F483-414D-8819-D85B0EF8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65" name="roadmap-gate-label">
            <a:extLst xmlns:a="http://schemas.openxmlformats.org/drawingml/2006/main">
              <a:ext uri="{FF2B5EF4-FFF2-40B4-BE49-F238E27FC236}">
                <a16:creationId xmlns:a16="http://schemas.microsoft.com/office/drawing/2014/main" id="{5CF9C2D8-AD4E-4BA9-9C0C-E23799F9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25" b="1">
                <a:solidFill>
                  <a:srgbClr val="B00000"/>
                </a:solidFill>
              </a:defRPr>
            </a:pPr>
            <a:r>
              <a:rPr sz="825" b="1">
                <a:solidFill>
                  <a:srgbClr val="B00000"/>
                </a:solidFill>
              </a:rPr>
              <a:t>STAGE GATES</a:t>
            </a:r>
          </a:p>
        </p:txBody>
      </p:sp>
      <p:sp>
        <p:nvSpPr>
          <p:cNvPr id="66" name="gate-year-0">
            <a:extLst xmlns:a="http://schemas.openxmlformats.org/drawingml/2006/main">
              <a:ext uri="{FF2B5EF4-FFF2-40B4-BE49-F238E27FC236}">
                <a16:creationId xmlns:a16="http://schemas.microsoft.com/office/drawing/2014/main" id="{15D907F4-CE64-4749-B9AB-DFB6B766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B00000"/>
                </a:solidFill>
              </a:defRPr>
            </a:pPr>
            <a:r>
              <a:rPr sz="788" b="1">
                <a:solidFill>
                  <a:srgbClr val="B00000"/>
                </a:solidFill>
              </a:rPr>
              <a:t>2026</a:t>
            </a:r>
          </a:p>
        </p:txBody>
      </p:sp>
      <p:sp>
        <p:nvSpPr>
          <p:cNvPr id="67" name="gate-copy-0">
            <a:extLst xmlns:a="http://schemas.openxmlformats.org/drawingml/2006/main">
              <a:ext uri="{FF2B5EF4-FFF2-40B4-BE49-F238E27FC236}">
                <a16:creationId xmlns:a16="http://schemas.microsoft.com/office/drawing/2014/main" id="{4B7FC445-4B0C-48AC-B8C4-EECD4849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0">
                <a:solidFill>
                  <a:srgbClr val="111111"/>
                </a:solidFill>
              </a:defRPr>
            </a:pPr>
            <a:r>
              <a:rPr sz="788" b="0">
                <a:solidFill>
                  <a:srgbClr val="111111"/>
                </a:solidFill>
              </a:rPr>
              <a:t>RMB 42–54M annualized improvement; year-end loss halved</a:t>
            </a:r>
          </a:p>
        </p:txBody>
      </p:sp>
      <p:sp>
        <p:nvSpPr>
          <p:cNvPr id="68" name="gate-year-1">
            <a:extLst xmlns:a="http://schemas.openxmlformats.org/drawingml/2006/main">
              <a:ext uri="{FF2B5EF4-FFF2-40B4-BE49-F238E27FC236}">
                <a16:creationId xmlns:a16="http://schemas.microsoft.com/office/drawing/2014/main" id="{9F3064A3-F72F-494F-A1C1-EDFEBD7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B00000"/>
                </a:solidFill>
              </a:defRPr>
            </a:pPr>
            <a:r>
              <a:rPr sz="788" b="1">
                <a:solidFill>
                  <a:srgbClr val="B00000"/>
                </a:solidFill>
              </a:rPr>
              <a:t>2027</a:t>
            </a:r>
          </a:p>
        </p:txBody>
      </p:sp>
      <p:sp>
        <p:nvSpPr>
          <p:cNvPr id="69" name="gate-copy-1">
            <a:extLst xmlns:a="http://schemas.openxmlformats.org/drawingml/2006/main">
              <a:ext uri="{FF2B5EF4-FFF2-40B4-BE49-F238E27FC236}">
                <a16:creationId xmlns:a16="http://schemas.microsoft.com/office/drawing/2014/main" id="{643C7209-CF04-4D4A-ADB7-9458BA00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0">
                <a:solidFill>
                  <a:srgbClr val="111111"/>
                </a:solidFill>
              </a:defRPr>
            </a:pPr>
            <a:r>
              <a:rPr sz="788" b="0">
                <a:solidFill>
                  <a:srgbClr val="111111"/>
                </a:solidFill>
              </a:rPr>
              <a:t>+15–20% contribution per order from AI amplification</a:t>
            </a:r>
          </a:p>
        </p:txBody>
      </p:sp>
      <p:sp>
        <p:nvSpPr>
          <p:cNvPr id="70" name="gate-year-2">
            <a:extLst xmlns:a="http://schemas.openxmlformats.org/drawingml/2006/main">
              <a:ext uri="{FF2B5EF4-FFF2-40B4-BE49-F238E27FC236}">
                <a16:creationId xmlns:a16="http://schemas.microsoft.com/office/drawing/2014/main" id="{01D9AECF-4D27-46AC-87A0-A7CE4A3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B00000"/>
                </a:solidFill>
              </a:defRPr>
            </a:pPr>
            <a:r>
              <a:rPr sz="788" b="1">
                <a:solidFill>
                  <a:srgbClr val="B00000"/>
                </a:solidFill>
              </a:rPr>
              <a:t>2028</a:t>
            </a:r>
          </a:p>
        </p:txBody>
      </p:sp>
      <p:sp>
        <p:nvSpPr>
          <p:cNvPr id="71" name="gate-copy-2">
            <a:extLst xmlns:a="http://schemas.openxmlformats.org/drawingml/2006/main">
              <a:ext uri="{FF2B5EF4-FFF2-40B4-BE49-F238E27FC236}">
                <a16:creationId xmlns:a16="http://schemas.microsoft.com/office/drawing/2014/main" id="{3EF2B0F4-7887-419E-A0E9-B8BD18AC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0">
                <a:solidFill>
                  <a:srgbClr val="111111"/>
                </a:solidFill>
              </a:defRPr>
            </a:pPr>
            <a:r>
              <a:rPr sz="788" b="0">
                <a:solidFill>
                  <a:srgbClr val="111111"/>
                </a:solidFill>
              </a:rPr>
              <a:t>+RMB 18M Xuzhou profit</a:t>
            </a:r>
          </a:p>
        </p:txBody>
      </p:sp>
      <p:sp>
        <p:nvSpPr>
          <p:cNvPr id="72" name="gate-year-3">
            <a:extLst xmlns:a="http://schemas.openxmlformats.org/drawingml/2006/main">
              <a:ext uri="{FF2B5EF4-FFF2-40B4-BE49-F238E27FC236}">
                <a16:creationId xmlns:a16="http://schemas.microsoft.com/office/drawing/2014/main" id="{05013D90-BB2A-406C-9218-866AE04E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B00000"/>
                </a:solidFill>
              </a:defRPr>
            </a:pPr>
            <a:r>
              <a:rPr sz="788" b="1">
                <a:solidFill>
                  <a:srgbClr val="B00000"/>
                </a:solidFill>
              </a:rPr>
              <a:t>2030</a:t>
            </a:r>
          </a:p>
        </p:txBody>
      </p:sp>
      <p:sp>
        <p:nvSpPr>
          <p:cNvPr id="73" name="gate-copy-3">
            <a:extLst xmlns:a="http://schemas.openxmlformats.org/drawingml/2006/main">
              <a:ext uri="{FF2B5EF4-FFF2-40B4-BE49-F238E27FC236}">
                <a16:creationId xmlns:a16="http://schemas.microsoft.com/office/drawing/2014/main" id="{E65122E7-B90E-4F58-9F92-7D0794F2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111111"/>
                </a:solidFill>
              </a:defRPr>
            </a:pPr>
            <a:r>
              <a:rPr sz="788" b="1">
                <a:solidFill>
                  <a:srgbClr val="111111"/>
                </a:solidFill>
              </a:rPr>
              <a:t>4 champion cities + 12–15 satellite cities</a:t>
            </a:r>
          </a:p>
        </p:txBody>
      </p:sp>
      <p:sp>
        <p:nvSpPr>
          <p:cNvPr id="74" name="header-2-VALUE PATH">
            <a:extLst xmlns:a="http://schemas.openxmlformats.org/drawingml/2006/main">
              <a:ext uri="{FF2B5EF4-FFF2-40B4-BE49-F238E27FC236}">
                <a16:creationId xmlns:a16="http://schemas.microsoft.com/office/drawing/2014/main" id="{6608F4C4-3219-4488-AF61-CA01C799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668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eader-text-2-VALUE PATH">
            <a:extLst xmlns:a="http://schemas.openxmlformats.org/drawingml/2006/main">
              <a:ext uri="{FF2B5EF4-FFF2-40B4-BE49-F238E27FC236}">
                <a16:creationId xmlns:a16="http://schemas.microsoft.com/office/drawing/2014/main" id="{EA029C1E-2581-4900-BA46-477A9E4F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668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VALUE PATH</a:t>
            </a:r>
          </a:p>
        </p:txBody>
      </p:sp>
      <p:sp>
        <p:nvSpPr>
          <p:cNvPr id="76" name="value-frame">
            <a:extLst xmlns:a="http://schemas.openxmlformats.org/drawingml/2006/main">
              <a:ext uri="{FF2B5EF4-FFF2-40B4-BE49-F238E27FC236}">
                <a16:creationId xmlns:a16="http://schemas.microsoft.com/office/drawing/2014/main" id="{AA588A59-4583-437D-9B0F-F154CDA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52550"/>
            <a:ext cx="2762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7" name="ladder-0">
            <a:extLst xmlns:a="http://schemas.openxmlformats.org/drawingml/2006/main">
              <a:ext uri="{FF2B5EF4-FFF2-40B4-BE49-F238E27FC236}">
                <a16:creationId xmlns:a16="http://schemas.microsoft.com/office/drawing/2014/main" id="{06B53BA5-825B-4C6E-BE81-DF1933D9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192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8" name="ladder-accent-0">
            <a:extLst xmlns:a="http://schemas.openxmlformats.org/drawingml/2006/main">
              <a:ext uri="{FF2B5EF4-FFF2-40B4-BE49-F238E27FC236}">
                <a16:creationId xmlns:a16="http://schemas.microsoft.com/office/drawing/2014/main" id="{36D82B6E-FDDB-4C9A-8FC9-6A89C1D6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19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ladder-label-0">
            <a:extLst xmlns:a="http://schemas.openxmlformats.org/drawingml/2006/main">
              <a:ext uri="{FF2B5EF4-FFF2-40B4-BE49-F238E27FC236}">
                <a16:creationId xmlns:a16="http://schemas.microsoft.com/office/drawing/2014/main" id="{03876F0E-27F2-4853-A1C9-61EF9D51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777777"/>
                </a:solidFill>
              </a:defRPr>
            </a:pPr>
            <a:r>
              <a:rPr sz="788" b="1">
                <a:solidFill>
                  <a:srgbClr val="777777"/>
                </a:solidFill>
              </a:rPr>
              <a:t>STOP THE BLEED</a:t>
            </a:r>
          </a:p>
        </p:txBody>
      </p:sp>
      <p:sp>
        <p:nvSpPr>
          <p:cNvPr id="80" name="ladder-year-0">
            <a:extLst xmlns:a="http://schemas.openxmlformats.org/drawingml/2006/main">
              <a:ext uri="{FF2B5EF4-FFF2-40B4-BE49-F238E27FC236}">
                <a16:creationId xmlns:a16="http://schemas.microsoft.com/office/drawing/2014/main" id="{774B411E-1A71-47FB-87DE-A3B162C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2026</a:t>
            </a:r>
          </a:p>
        </p:txBody>
      </p:sp>
      <p:sp>
        <p:nvSpPr>
          <p:cNvPr id="81" name="ladder-value-0">
            <a:extLst xmlns:a="http://schemas.openxmlformats.org/drawingml/2006/main">
              <a:ext uri="{FF2B5EF4-FFF2-40B4-BE49-F238E27FC236}">
                <a16:creationId xmlns:a16="http://schemas.microsoft.com/office/drawing/2014/main" id="{A8DEC818-58D3-4977-9D0E-46BA7CA8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1">
                <a:solidFill>
                  <a:srgbClr val="777777"/>
                </a:solidFill>
              </a:defRPr>
            </a:pPr>
            <a:r>
              <a:rPr sz="1125" b="1">
                <a:solidFill>
                  <a:srgbClr val="777777"/>
                </a:solidFill>
              </a:rPr>
              <a:t>Loss halved</a:t>
            </a:r>
          </a:p>
        </p:txBody>
      </p:sp>
      <p:sp>
        <p:nvSpPr>
          <p:cNvPr id="82" name="ladder-1">
            <a:extLst xmlns:a="http://schemas.openxmlformats.org/drawingml/2006/main">
              <a:ext uri="{FF2B5EF4-FFF2-40B4-BE49-F238E27FC236}">
                <a16:creationId xmlns:a16="http://schemas.microsoft.com/office/drawing/2014/main" id="{BACE0E3D-1832-417A-824A-107A7DD9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3" name="ladder-accent-1">
            <a:extLst xmlns:a="http://schemas.openxmlformats.org/drawingml/2006/main">
              <a:ext uri="{FF2B5EF4-FFF2-40B4-BE49-F238E27FC236}">
                <a16:creationId xmlns:a16="http://schemas.microsoft.com/office/drawing/2014/main" id="{FC13C8B5-0708-48D9-9E66-78C6309E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ladder-label-1">
            <a:extLst xmlns:a="http://schemas.openxmlformats.org/drawingml/2006/main">
              <a:ext uri="{FF2B5EF4-FFF2-40B4-BE49-F238E27FC236}">
                <a16:creationId xmlns:a16="http://schemas.microsoft.com/office/drawing/2014/main" id="{0E4098B0-2FEF-4B54-98E8-827C988A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777777"/>
                </a:solidFill>
              </a:defRPr>
            </a:pPr>
            <a:r>
              <a:rPr sz="788" b="1">
                <a:solidFill>
                  <a:srgbClr val="777777"/>
                </a:solidFill>
              </a:rPr>
              <a:t>AMPLIFY</a:t>
            </a:r>
          </a:p>
        </p:txBody>
      </p:sp>
      <p:sp>
        <p:nvSpPr>
          <p:cNvPr id="85" name="ladder-year-1">
            <a:extLst xmlns:a="http://schemas.openxmlformats.org/drawingml/2006/main">
              <a:ext uri="{FF2B5EF4-FFF2-40B4-BE49-F238E27FC236}">
                <a16:creationId xmlns:a16="http://schemas.microsoft.com/office/drawing/2014/main" id="{6656E354-0E78-49F9-B991-1142128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2027</a:t>
            </a:r>
          </a:p>
        </p:txBody>
      </p:sp>
      <p:sp>
        <p:nvSpPr>
          <p:cNvPr id="86" name="ladder-value-1">
            <a:extLst xmlns:a="http://schemas.openxmlformats.org/drawingml/2006/main">
              <a:ext uri="{FF2B5EF4-FFF2-40B4-BE49-F238E27FC236}">
                <a16:creationId xmlns:a16="http://schemas.microsoft.com/office/drawing/2014/main" id="{A907EA7D-34E8-434D-A477-45EF6C4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1">
                <a:solidFill>
                  <a:srgbClr val="EF6B6B"/>
                </a:solidFill>
              </a:defRPr>
            </a:pPr>
            <a:r>
              <a:rPr sz="1125" b="1">
                <a:solidFill>
                  <a:srgbClr val="EF6B6B"/>
                </a:solidFill>
              </a:rPr>
              <a:t>+15–20% / order</a:t>
            </a:r>
          </a:p>
        </p:txBody>
      </p:sp>
      <p:sp>
        <p:nvSpPr>
          <p:cNvPr id="87" name="ladder-2">
            <a:extLst xmlns:a="http://schemas.openxmlformats.org/drawingml/2006/main">
              <a:ext uri="{FF2B5EF4-FFF2-40B4-BE49-F238E27FC236}">
                <a16:creationId xmlns:a16="http://schemas.microsoft.com/office/drawing/2014/main" id="{C5CB5FC1-F216-4AAC-B5DF-AFF8A6FE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766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8" name="ladder-accent-2">
            <a:extLst xmlns:a="http://schemas.openxmlformats.org/drawingml/2006/main">
              <a:ext uri="{FF2B5EF4-FFF2-40B4-BE49-F238E27FC236}">
                <a16:creationId xmlns:a16="http://schemas.microsoft.com/office/drawing/2014/main" id="{F9DCCA77-23E2-404B-AE0A-20A2231B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76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ladder-label-2">
            <a:extLst xmlns:a="http://schemas.openxmlformats.org/drawingml/2006/main">
              <a:ext uri="{FF2B5EF4-FFF2-40B4-BE49-F238E27FC236}">
                <a16:creationId xmlns:a16="http://schemas.microsoft.com/office/drawing/2014/main" id="{77F582B4-E4A4-4660-B530-694BE102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777777"/>
                </a:solidFill>
              </a:defRPr>
            </a:pPr>
            <a:r>
              <a:rPr sz="788" b="1">
                <a:solidFill>
                  <a:srgbClr val="777777"/>
                </a:solidFill>
              </a:rPr>
              <a:t>PROFIT</a:t>
            </a:r>
          </a:p>
        </p:txBody>
      </p:sp>
      <p:sp>
        <p:nvSpPr>
          <p:cNvPr id="90" name="ladder-year-2">
            <a:extLst xmlns:a="http://schemas.openxmlformats.org/drawingml/2006/main">
              <a:ext uri="{FF2B5EF4-FFF2-40B4-BE49-F238E27FC236}">
                <a16:creationId xmlns:a16="http://schemas.microsoft.com/office/drawing/2014/main" id="{0B58DF8C-3D9D-4524-AAFB-9F66A40B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2028</a:t>
            </a:r>
          </a:p>
        </p:txBody>
      </p:sp>
      <p:sp>
        <p:nvSpPr>
          <p:cNvPr id="91" name="ladder-value-2">
            <a:extLst xmlns:a="http://schemas.openxmlformats.org/drawingml/2006/main">
              <a:ext uri="{FF2B5EF4-FFF2-40B4-BE49-F238E27FC236}">
                <a16:creationId xmlns:a16="http://schemas.microsoft.com/office/drawing/2014/main" id="{804FDB4C-ECA9-45CB-A25B-FC0DB0EB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1">
                <a:solidFill>
                  <a:srgbClr val="B00000"/>
                </a:solidFill>
              </a:defRPr>
            </a:pPr>
            <a:r>
              <a:rPr sz="1125" b="1">
                <a:solidFill>
                  <a:srgbClr val="B00000"/>
                </a:solidFill>
              </a:rPr>
              <a:t>+RMB 18M</a:t>
            </a:r>
          </a:p>
        </p:txBody>
      </p:sp>
      <p:sp>
        <p:nvSpPr>
          <p:cNvPr id="92" name="ladder-3">
            <a:extLst xmlns:a="http://schemas.openxmlformats.org/drawingml/2006/main">
              <a:ext uri="{FF2B5EF4-FFF2-40B4-BE49-F238E27FC236}">
                <a16:creationId xmlns:a16="http://schemas.microsoft.com/office/drawing/2014/main" id="{DEC7F99C-CE2E-44AE-A0F6-4E9F9124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053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3" name="ladder-accent-3">
            <a:extLst xmlns:a="http://schemas.openxmlformats.org/drawingml/2006/main">
              <a:ext uri="{FF2B5EF4-FFF2-40B4-BE49-F238E27FC236}">
                <a16:creationId xmlns:a16="http://schemas.microsoft.com/office/drawing/2014/main" id="{96972D5F-67BD-46C8-B2BC-A2E4981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053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ladder-label-3">
            <a:extLst xmlns:a="http://schemas.openxmlformats.org/drawingml/2006/main">
              <a:ext uri="{FF2B5EF4-FFF2-40B4-BE49-F238E27FC236}">
                <a16:creationId xmlns:a16="http://schemas.microsoft.com/office/drawing/2014/main" id="{26C6AE3D-7E02-4A7E-9A04-C867CCCA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88" b="1">
                <a:solidFill>
                  <a:srgbClr val="777777"/>
                </a:solidFill>
              </a:defRPr>
            </a:pPr>
            <a:r>
              <a:rPr sz="788" b="1">
                <a:solidFill>
                  <a:srgbClr val="777777"/>
                </a:solidFill>
              </a:rPr>
              <a:t>REPLICATE</a:t>
            </a:r>
          </a:p>
        </p:txBody>
      </p:sp>
      <p:sp>
        <p:nvSpPr>
          <p:cNvPr id="95" name="ladder-year-3">
            <a:extLst xmlns:a="http://schemas.openxmlformats.org/drawingml/2006/main">
              <a:ext uri="{FF2B5EF4-FFF2-40B4-BE49-F238E27FC236}">
                <a16:creationId xmlns:a16="http://schemas.microsoft.com/office/drawing/2014/main" id="{1761C883-13E5-46CA-9800-E8687048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2030</a:t>
            </a:r>
          </a:p>
        </p:txBody>
      </p:sp>
      <p:sp>
        <p:nvSpPr>
          <p:cNvPr id="96" name="ladder-value-3">
            <a:extLst xmlns:a="http://schemas.openxmlformats.org/drawingml/2006/main">
              <a:ext uri="{FF2B5EF4-FFF2-40B4-BE49-F238E27FC236}">
                <a16:creationId xmlns:a16="http://schemas.microsoft.com/office/drawing/2014/main" id="{7626F518-7B61-4790-A7DD-8588BCC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720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1">
                <a:solidFill>
                  <a:srgbClr val="8F0000"/>
                </a:solidFill>
              </a:defRPr>
            </a:pPr>
            <a:r>
              <a:rPr sz="1125" b="1">
                <a:solidFill>
                  <a:srgbClr val="8F0000"/>
                </a:solidFill>
              </a:rPr>
              <a:t>18-mo. break-even</a:t>
            </a:r>
          </a:p>
        </p:txBody>
      </p:sp>
      <p:sp>
        <p:nvSpPr>
          <p:cNvPr id="97" name="source-2">
            <a:extLst xmlns:a="http://schemas.openxmlformats.org/drawingml/2006/main">
              <a:ext uri="{FF2B5EF4-FFF2-40B4-BE49-F238E27FC236}">
                <a16:creationId xmlns:a16="http://schemas.microsoft.com/office/drawing/2014/main" id="{D51B2BF4-DA2F-4393-8ED4-5D2898CE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866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38" b="0">
                <a:solidFill>
                  <a:srgbClr val="777777"/>
                </a:solidFill>
              </a:defRPr>
            </a:pPr>
            <a:r>
              <a:rPr sz="638" b="0">
                <a:solidFill>
                  <a:srgbClr val="777777"/>
                </a:solidFill>
              </a:rPr>
              <a:t>Source: supplied speaker script · All figures are team estimates / proposed targets</a:t>
            </a:r>
          </a:p>
        </p:txBody>
      </p:sp>
      <p:sp>
        <p:nvSpPr>
          <p:cNvPr id="98" name="page-2">
            <a:extLst xmlns:a="http://schemas.openxmlformats.org/drawingml/2006/main">
              <a:ext uri="{FF2B5EF4-FFF2-40B4-BE49-F238E27FC236}">
                <a16:creationId xmlns:a16="http://schemas.microsoft.com/office/drawing/2014/main" id="{341DF705-34A4-4EBD-91A3-37D892D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675" b="1">
                <a:solidFill>
                  <a:srgbClr val="777777"/>
                </a:solidFill>
              </a:defRPr>
            </a:pPr>
            <a:r>
              <a:rPr sz="675" b="1">
                <a:solidFill>
                  <a:srgbClr val="777777"/>
                </a:solidFill>
              </a:rPr>
              <a:t>2</a:t>
            </a:r>
          </a:p>
        </p:txBody>
      </p:sp>
      <p:sp>
        <p:nvSpPr>
          <p:cNvPr id="99" name="takeaway-DELIVERY LOGIC">
            <a:extLst xmlns:a="http://schemas.openxmlformats.org/drawingml/2006/main">
              <a:ext uri="{FF2B5EF4-FFF2-40B4-BE49-F238E27FC236}">
                <a16:creationId xmlns:a16="http://schemas.microsoft.com/office/drawing/2014/main" id="{7BA98786-9DB3-4A3B-8591-7384EA9F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743700"/>
            <a:ext cx="10010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takeaway-label-DELIVERY LOGIC">
            <a:extLst xmlns:a="http://schemas.openxmlformats.org/drawingml/2006/main">
              <a:ext uri="{FF2B5EF4-FFF2-40B4-BE49-F238E27FC236}">
                <a16:creationId xmlns:a16="http://schemas.microsoft.com/office/drawing/2014/main" id="{3F29C5DE-B869-425E-9AE9-007B963C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00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DELIVERY LOGIC</a:t>
            </a:r>
          </a:p>
        </p:txBody>
      </p:sp>
      <p:sp>
        <p:nvSpPr>
          <p:cNvPr id="101" name="takeaway-rule-DELIVERY LOGIC">
            <a:extLst xmlns:a="http://schemas.openxmlformats.org/drawingml/2006/main">
              <a:ext uri="{FF2B5EF4-FFF2-40B4-BE49-F238E27FC236}">
                <a16:creationId xmlns:a16="http://schemas.microsoft.com/office/drawing/2014/main" id="{D7749BE0-6E4B-4541-815D-DB111A5A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8389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takeaway-copy-DELIVERY LOGIC">
            <a:extLst xmlns:a="http://schemas.openxmlformats.org/drawingml/2006/main">
              <a:ext uri="{FF2B5EF4-FFF2-40B4-BE49-F238E27FC236}">
                <a16:creationId xmlns:a16="http://schemas.microsoft.com/office/drawing/2014/main" id="{F15590A5-3791-4390-BBF4-C314A506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7913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Run the four pilots together, scale only after quantified gates, and use the AI layer to shorten each new city's learning curve.</a:t>
            </a:r>
          </a:p>
        </p:txBody>
      </p:sp>
    </p:spTree>
    <p:extLst>
      <p:ext uri="{BB962C8B-B14F-4D97-AF65-F5344CB8AC3E}">
        <p14:creationId xmlns:p14="http://schemas.microsoft.com/office/powerpoint/2010/main" val="1469587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number-3">
            <a:extLst xmlns:a="http://schemas.openxmlformats.org/drawingml/2006/main">
              <a:ext uri="{FF2B5EF4-FFF2-40B4-BE49-F238E27FC236}">
                <a16:creationId xmlns:a16="http://schemas.microsoft.com/office/drawing/2014/main" id="{9E87CFCA-2D2A-4A5C-8D88-15E0873E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umber-label-3">
            <a:extLst xmlns:a="http://schemas.openxmlformats.org/drawingml/2006/main">
              <a:ext uri="{FF2B5EF4-FFF2-40B4-BE49-F238E27FC236}">
                <a16:creationId xmlns:a16="http://schemas.microsoft.com/office/drawing/2014/main" id="{90200290-6AA6-414C-ACAF-35958564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32D97084-BFD5-4F5D-A777-A93EECD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Approve RMB 12.5M to launch the Xuzhou Turnaround Lab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929D18A8-7320-402C-BDF5-43EA454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B00000"/>
                </a:solidFill>
              </a:defRPr>
            </a:pPr>
            <a:r>
              <a:rPr sz="1050" b="0">
                <a:solidFill>
                  <a:srgbClr val="B00000"/>
                </a:solidFill>
              </a:rPr>
              <a:t>The largest quantified risk is manageable without entering a cash-subsidy war.</a:t>
            </a:r>
          </a:p>
        </p:txBody>
      </p:sp>
      <p:sp>
        <p:nvSpPr>
          <p:cNvPr id="5" name="header-1-RISK MATRIX · IMPACT × LIKELIHOOD">
            <a:extLst xmlns:a="http://schemas.openxmlformats.org/drawingml/2006/main">
              <a:ext uri="{FF2B5EF4-FFF2-40B4-BE49-F238E27FC236}">
                <a16:creationId xmlns:a16="http://schemas.microsoft.com/office/drawing/2014/main" id="{B94B31FB-3BB6-4151-902F-596AB17B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er-text-1-RISK MATRIX · IMPACT × LIKELIHOOD">
            <a:extLst xmlns:a="http://schemas.openxmlformats.org/drawingml/2006/main">
              <a:ext uri="{FF2B5EF4-FFF2-40B4-BE49-F238E27FC236}">
                <a16:creationId xmlns:a16="http://schemas.microsoft.com/office/drawing/2014/main" id="{41877A9A-3189-475A-9A14-E3B83149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RISK MATRIX · IMPACT × LIKELIHOOD</a:t>
            </a:r>
          </a:p>
        </p:txBody>
      </p:sp>
      <p:sp>
        <p:nvSpPr>
          <p:cNvPr id="7" name="risk-frame">
            <a:extLst xmlns:a="http://schemas.openxmlformats.org/drawingml/2006/main">
              <a:ext uri="{FF2B5EF4-FFF2-40B4-BE49-F238E27FC236}">
                <a16:creationId xmlns:a16="http://schemas.microsoft.com/office/drawing/2014/main" id="{C98F4A48-0C89-459C-8166-BF305F21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715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risk-cell-0-0">
            <a:extLst xmlns:a="http://schemas.openxmlformats.org/drawingml/2006/main">
              <a:ext uri="{FF2B5EF4-FFF2-40B4-BE49-F238E27FC236}">
                <a16:creationId xmlns:a16="http://schemas.microsoft.com/office/drawing/2014/main" id="{5E578491-C7C0-410A-A033-0CBC13CE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risk-cell-0-1">
            <a:extLst xmlns:a="http://schemas.openxmlformats.org/drawingml/2006/main">
              <a:ext uri="{FF2B5EF4-FFF2-40B4-BE49-F238E27FC236}">
                <a16:creationId xmlns:a16="http://schemas.microsoft.com/office/drawing/2014/main" id="{D802C06A-B4F3-4833-8CC7-A2513A3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risk-cell-0-2">
            <a:extLst xmlns:a="http://schemas.openxmlformats.org/drawingml/2006/main">
              <a:ext uri="{FF2B5EF4-FFF2-40B4-BE49-F238E27FC236}">
                <a16:creationId xmlns:a16="http://schemas.microsoft.com/office/drawing/2014/main" id="{622E588C-C523-41F6-BE77-F1B5E33D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719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risk-cell-1-0">
            <a:extLst xmlns:a="http://schemas.openxmlformats.org/drawingml/2006/main">
              <a:ext uri="{FF2B5EF4-FFF2-40B4-BE49-F238E27FC236}">
                <a16:creationId xmlns:a16="http://schemas.microsoft.com/office/drawing/2014/main" id="{B4BBFCB5-5BE1-4E2B-A8D7-39EF63A4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risk-cell-1-1">
            <a:extLst xmlns:a="http://schemas.openxmlformats.org/drawingml/2006/main">
              <a:ext uri="{FF2B5EF4-FFF2-40B4-BE49-F238E27FC236}">
                <a16:creationId xmlns:a16="http://schemas.microsoft.com/office/drawing/2014/main" id="{2F80826A-4E91-4864-AE24-CEAC50BA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risk-cell-1-2">
            <a:extLst xmlns:a="http://schemas.openxmlformats.org/drawingml/2006/main">
              <a:ext uri="{FF2B5EF4-FFF2-40B4-BE49-F238E27FC236}">
                <a16:creationId xmlns:a16="http://schemas.microsoft.com/office/drawing/2014/main" id="{3D5ABB1F-E7D9-46EF-8238-CC09C723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194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4" name="risk-cell-2-0">
            <a:extLst xmlns:a="http://schemas.openxmlformats.org/drawingml/2006/main">
              <a:ext uri="{FF2B5EF4-FFF2-40B4-BE49-F238E27FC236}">
                <a16:creationId xmlns:a16="http://schemas.microsoft.com/office/drawing/2014/main" id="{C41DAB1A-A678-4E74-A72D-15E5FEF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risk-cell-2-1">
            <a:extLst xmlns:a="http://schemas.openxmlformats.org/drawingml/2006/main">
              <a:ext uri="{FF2B5EF4-FFF2-40B4-BE49-F238E27FC236}">
                <a16:creationId xmlns:a16="http://schemas.microsoft.com/office/drawing/2014/main" id="{B00EAC55-4E1C-4E47-8C6E-313CBC64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6" name="risk-cell-2-2">
            <a:extLst xmlns:a="http://schemas.openxmlformats.org/drawingml/2006/main">
              <a:ext uri="{FF2B5EF4-FFF2-40B4-BE49-F238E27FC236}">
                <a16:creationId xmlns:a16="http://schemas.microsoft.com/office/drawing/2014/main" id="{EB81E044-4112-42E0-A3A8-172F06B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66900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impact-label">
            <a:extLst xmlns:a="http://schemas.openxmlformats.org/drawingml/2006/main">
              <a:ext uri="{FF2B5EF4-FFF2-40B4-BE49-F238E27FC236}">
                <a16:creationId xmlns:a16="http://schemas.microsoft.com/office/drawing/2014/main" id="{8A970D11-ECCD-4945-AB70-05303525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IMPACT</a:t>
            </a:r>
          </a:p>
        </p:txBody>
      </p:sp>
      <p:sp>
        <p:nvSpPr>
          <p:cNvPr id="18" name="prob-label">
            <a:extLst xmlns:a="http://schemas.openxmlformats.org/drawingml/2006/main">
              <a:ext uri="{FF2B5EF4-FFF2-40B4-BE49-F238E27FC236}">
                <a16:creationId xmlns:a16="http://schemas.microsoft.com/office/drawing/2014/main" id="{C696DD55-A03A-4C40-AD20-97B1E26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LIKELIHOOD</a:t>
            </a:r>
          </a:p>
        </p:txBody>
      </p:sp>
      <p:sp>
        <p:nvSpPr>
          <p:cNvPr id="19" name="prob-0">
            <a:extLst xmlns:a="http://schemas.openxmlformats.org/drawingml/2006/main">
              <a:ext uri="{FF2B5EF4-FFF2-40B4-BE49-F238E27FC236}">
                <a16:creationId xmlns:a16="http://schemas.microsoft.com/office/drawing/2014/main" id="{56911BF3-FF13-4827-B395-332A0EE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43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777777"/>
                </a:solidFill>
              </a:defRPr>
            </a:pPr>
            <a:r>
              <a:rPr sz="713" b="1">
                <a:solidFill>
                  <a:srgbClr val="777777"/>
                </a:solidFill>
              </a:rPr>
              <a:t>LOW</a:t>
            </a:r>
          </a:p>
        </p:txBody>
      </p:sp>
      <p:sp>
        <p:nvSpPr>
          <p:cNvPr id="20" name="prob-1">
            <a:extLst xmlns:a="http://schemas.openxmlformats.org/drawingml/2006/main">
              <a:ext uri="{FF2B5EF4-FFF2-40B4-BE49-F238E27FC236}">
                <a16:creationId xmlns:a16="http://schemas.microsoft.com/office/drawing/2014/main" id="{5FCCB35A-87D8-42EE-BECA-381D6BD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777777"/>
                </a:solidFill>
              </a:defRPr>
            </a:pPr>
            <a:r>
              <a:rPr sz="713" b="1">
                <a:solidFill>
                  <a:srgbClr val="777777"/>
                </a:solidFill>
              </a:rPr>
              <a:t>MEDIUM</a:t>
            </a:r>
          </a:p>
        </p:txBody>
      </p:sp>
      <p:sp>
        <p:nvSpPr>
          <p:cNvPr id="21" name="prob-2">
            <a:extLst xmlns:a="http://schemas.openxmlformats.org/drawingml/2006/main">
              <a:ext uri="{FF2B5EF4-FFF2-40B4-BE49-F238E27FC236}">
                <a16:creationId xmlns:a16="http://schemas.microsoft.com/office/drawing/2014/main" id="{219317FE-9CFD-430E-9B0B-DBAFA3D7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43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777777"/>
                </a:solidFill>
              </a:defRPr>
            </a:pPr>
            <a:r>
              <a:rPr sz="713" b="1">
                <a:solidFill>
                  <a:srgbClr val="777777"/>
                </a:solidFill>
              </a:rPr>
              <a:t>HIGH</a:t>
            </a:r>
          </a:p>
        </p:txBody>
      </p:sp>
      <p:sp>
        <p:nvSpPr>
          <p:cNvPr id="22" name="impact-0">
            <a:extLst xmlns:a="http://schemas.openxmlformats.org/drawingml/2006/main">
              <a:ext uri="{FF2B5EF4-FFF2-40B4-BE49-F238E27FC236}">
                <a16:creationId xmlns:a16="http://schemas.microsoft.com/office/drawing/2014/main" id="{D3CD90FD-DF3B-4AAE-9984-5A7A4F99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713" b="1">
                <a:solidFill>
                  <a:srgbClr val="777777"/>
                </a:solidFill>
              </a:defRPr>
            </a:pPr>
            <a:r>
              <a:rPr sz="713" b="1">
                <a:solidFill>
                  <a:srgbClr val="777777"/>
                </a:solidFill>
              </a:rPr>
              <a:t>LOW</a:t>
            </a:r>
          </a:p>
        </p:txBody>
      </p:sp>
      <p:sp>
        <p:nvSpPr>
          <p:cNvPr id="23" name="impact-1">
            <a:extLst xmlns:a="http://schemas.openxmlformats.org/drawingml/2006/main">
              <a:ext uri="{FF2B5EF4-FFF2-40B4-BE49-F238E27FC236}">
                <a16:creationId xmlns:a16="http://schemas.microsoft.com/office/drawing/2014/main" id="{62E2B2EE-909E-4C8A-92E5-F90E5F56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713" b="1">
                <a:solidFill>
                  <a:srgbClr val="777777"/>
                </a:solidFill>
              </a:defRPr>
            </a:pPr>
            <a:r>
              <a:rPr sz="713" b="1">
                <a:solidFill>
                  <a:srgbClr val="777777"/>
                </a:solidFill>
              </a:rPr>
              <a:t>MEDIUM</a:t>
            </a:r>
          </a:p>
        </p:txBody>
      </p:sp>
      <p:sp>
        <p:nvSpPr>
          <p:cNvPr id="24" name="impact-2">
            <a:extLst xmlns:a="http://schemas.openxmlformats.org/drawingml/2006/main">
              <a:ext uri="{FF2B5EF4-FFF2-40B4-BE49-F238E27FC236}">
                <a16:creationId xmlns:a16="http://schemas.microsoft.com/office/drawing/2014/main" id="{174AD985-034B-4FBD-9F71-D0500D1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713" b="1">
                <a:solidFill>
                  <a:srgbClr val="777777"/>
                </a:solidFill>
              </a:defRPr>
            </a:pPr>
            <a:r>
              <a:rPr sz="713" b="1">
                <a:solidFill>
                  <a:srgbClr val="777777"/>
                </a:solidFill>
              </a:rPr>
              <a:t>HIGH</a:t>
            </a:r>
          </a:p>
        </p:txBody>
      </p:sp>
      <p:sp>
        <p:nvSpPr>
          <p:cNvPr id="25" name="risk-bubble-0">
            <a:extLst xmlns:a="http://schemas.openxmlformats.org/drawingml/2006/main">
              <a:ext uri="{FF2B5EF4-FFF2-40B4-BE49-F238E27FC236}">
                <a16:creationId xmlns:a16="http://schemas.microsoft.com/office/drawing/2014/main" id="{27C920F1-4ACA-4031-8374-01F90AB5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38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isk-number-0">
            <a:extLst xmlns:a="http://schemas.openxmlformats.org/drawingml/2006/main">
              <a:ext uri="{FF2B5EF4-FFF2-40B4-BE49-F238E27FC236}">
                <a16:creationId xmlns:a16="http://schemas.microsoft.com/office/drawing/2014/main" id="{4926D2E1-40B4-4C8B-A74F-6E3C822D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383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risk-label-0">
            <a:extLst xmlns:a="http://schemas.openxmlformats.org/drawingml/2006/main">
              <a:ext uri="{FF2B5EF4-FFF2-40B4-BE49-F238E27FC236}">
                <a16:creationId xmlns:a16="http://schemas.microsoft.com/office/drawing/2014/main" id="{36B34F0D-BE61-40B0-BAAC-652EDB80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908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111111"/>
                </a:solidFill>
              </a:defRPr>
            </a:pPr>
            <a:r>
              <a:rPr sz="713" b="1">
                <a:solidFill>
                  <a:srgbClr val="111111"/>
                </a:solidFill>
              </a:rPr>
              <a:t>Counter-subsidy</a:t>
            </a:r>
          </a:p>
        </p:txBody>
      </p:sp>
      <p:sp>
        <p:nvSpPr>
          <p:cNvPr id="28" name="risk-bubble-1">
            <a:extLst xmlns:a="http://schemas.openxmlformats.org/drawingml/2006/main">
              <a:ext uri="{FF2B5EF4-FFF2-40B4-BE49-F238E27FC236}">
                <a16:creationId xmlns:a16="http://schemas.microsoft.com/office/drawing/2014/main" id="{0CCC3A6B-EC43-43E2-BBC2-5422633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isk-number-1">
            <a:extLst xmlns:a="http://schemas.openxmlformats.org/drawingml/2006/main">
              <a:ext uri="{FF2B5EF4-FFF2-40B4-BE49-F238E27FC236}">
                <a16:creationId xmlns:a16="http://schemas.microsoft.com/office/drawing/2014/main" id="{329C424B-669C-4F51-8A0C-365B8318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risk-label-1">
            <a:extLst xmlns:a="http://schemas.openxmlformats.org/drawingml/2006/main">
              <a:ext uri="{FF2B5EF4-FFF2-40B4-BE49-F238E27FC236}">
                <a16:creationId xmlns:a16="http://schemas.microsoft.com/office/drawing/2014/main" id="{A7657A9B-1397-4F6C-9AAF-E3A5FBAA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480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111111"/>
                </a:solidFill>
              </a:defRPr>
            </a:pPr>
            <a:r>
              <a:rPr sz="713" b="1">
                <a:solidFill>
                  <a:srgbClr val="111111"/>
                </a:solidFill>
              </a:rPr>
              <a:t>HVC churn</a:t>
            </a:r>
          </a:p>
        </p:txBody>
      </p:sp>
      <p:sp>
        <p:nvSpPr>
          <p:cNvPr id="31" name="risk-bubble-2">
            <a:extLst xmlns:a="http://schemas.openxmlformats.org/drawingml/2006/main">
              <a:ext uri="{FF2B5EF4-FFF2-40B4-BE49-F238E27FC236}">
                <a16:creationId xmlns:a16="http://schemas.microsoft.com/office/drawing/2014/main" id="{12242EAC-2597-4545-AADA-3264AB76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isk-number-2">
            <a:extLst xmlns:a="http://schemas.openxmlformats.org/drawingml/2006/main">
              <a:ext uri="{FF2B5EF4-FFF2-40B4-BE49-F238E27FC236}">
                <a16:creationId xmlns:a16="http://schemas.microsoft.com/office/drawing/2014/main" id="{49D8D81B-333F-4351-9666-F5F52EA1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risk-label-2">
            <a:extLst xmlns:a="http://schemas.openxmlformats.org/drawingml/2006/main">
              <a:ext uri="{FF2B5EF4-FFF2-40B4-BE49-F238E27FC236}">
                <a16:creationId xmlns:a16="http://schemas.microsoft.com/office/drawing/2014/main" id="{16A7D191-ECEC-4167-991D-AF2BA1B1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62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111111"/>
                </a:solidFill>
              </a:defRPr>
            </a:pPr>
            <a:r>
              <a:rPr sz="713" b="1">
                <a:solidFill>
                  <a:srgbClr val="111111"/>
                </a:solidFill>
              </a:rPr>
              <a:t>County volume</a:t>
            </a:r>
          </a:p>
        </p:txBody>
      </p:sp>
      <p:sp>
        <p:nvSpPr>
          <p:cNvPr id="34" name="risk-bubble-3">
            <a:extLst xmlns:a="http://schemas.openxmlformats.org/drawingml/2006/main">
              <a:ext uri="{FF2B5EF4-FFF2-40B4-BE49-F238E27FC236}">
                <a16:creationId xmlns:a16="http://schemas.microsoft.com/office/drawing/2014/main" id="{D2279BF4-96A5-43A2-AD95-832599C9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isk-number-3">
            <a:extLst xmlns:a="http://schemas.openxmlformats.org/drawingml/2006/main">
              <a:ext uri="{FF2B5EF4-FFF2-40B4-BE49-F238E27FC236}">
                <a16:creationId xmlns:a16="http://schemas.microsoft.com/office/drawing/2014/main" id="{CADE93D5-8805-4556-B97D-D0434996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risk-label-3">
            <a:extLst xmlns:a="http://schemas.openxmlformats.org/drawingml/2006/main">
              <a:ext uri="{FF2B5EF4-FFF2-40B4-BE49-F238E27FC236}">
                <a16:creationId xmlns:a16="http://schemas.microsoft.com/office/drawing/2014/main" id="{314C54F6-585D-4076-913D-B8F45900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111111"/>
                </a:solidFill>
              </a:defRPr>
            </a:pPr>
            <a:r>
              <a:rPr sz="713" b="1">
                <a:solidFill>
                  <a:srgbClr val="111111"/>
                </a:solidFill>
              </a:rPr>
              <a:t>KA delay</a:t>
            </a:r>
          </a:p>
        </p:txBody>
      </p:sp>
      <p:sp>
        <p:nvSpPr>
          <p:cNvPr id="37" name="risk-bubble-4">
            <a:extLst xmlns:a="http://schemas.openxmlformats.org/drawingml/2006/main">
              <a:ext uri="{FF2B5EF4-FFF2-40B4-BE49-F238E27FC236}">
                <a16:creationId xmlns:a16="http://schemas.microsoft.com/office/drawing/2014/main" id="{B0DD4F81-4818-4355-953E-8FD0B2FF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05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isk-number-4">
            <a:extLst xmlns:a="http://schemas.openxmlformats.org/drawingml/2006/main">
              <a:ext uri="{FF2B5EF4-FFF2-40B4-BE49-F238E27FC236}">
                <a16:creationId xmlns:a16="http://schemas.microsoft.com/office/drawing/2014/main" id="{8919F259-77FA-49D1-A041-AFAE9AFD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05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risk-label-4">
            <a:extLst xmlns:a="http://schemas.openxmlformats.org/drawingml/2006/main">
              <a:ext uri="{FF2B5EF4-FFF2-40B4-BE49-F238E27FC236}">
                <a16:creationId xmlns:a16="http://schemas.microsoft.com/office/drawing/2014/main" id="{7A14E968-874C-4341-A41B-7622C380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111111"/>
                </a:solidFill>
              </a:defRPr>
            </a:pPr>
            <a:r>
              <a:rPr sz="713" b="1">
                <a:solidFill>
                  <a:srgbClr val="111111"/>
                </a:solidFill>
              </a:rPr>
              <a:t>Rider cost</a:t>
            </a:r>
          </a:p>
        </p:txBody>
      </p:sp>
      <p:sp>
        <p:nvSpPr>
          <p:cNvPr id="40" name="risk-bubble-5">
            <a:extLst xmlns:a="http://schemas.openxmlformats.org/drawingml/2006/main">
              <a:ext uri="{FF2B5EF4-FFF2-40B4-BE49-F238E27FC236}">
                <a16:creationId xmlns:a16="http://schemas.microsoft.com/office/drawing/2014/main" id="{7A55A4E2-49B7-4F3F-BC61-58F4D1CF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isk-number-5">
            <a:extLst xmlns:a="http://schemas.openxmlformats.org/drawingml/2006/main">
              <a:ext uri="{FF2B5EF4-FFF2-40B4-BE49-F238E27FC236}">
                <a16:creationId xmlns:a16="http://schemas.microsoft.com/office/drawing/2014/main" id="{248CCD74-5618-4630-9A08-182C293C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risk-label-5">
            <a:extLst xmlns:a="http://schemas.openxmlformats.org/drawingml/2006/main">
              <a:ext uri="{FF2B5EF4-FFF2-40B4-BE49-F238E27FC236}">
                <a16:creationId xmlns:a16="http://schemas.microsoft.com/office/drawing/2014/main" id="{4FFC17CD-791F-45B1-B260-D3AF7B9D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13" b="1">
                <a:solidFill>
                  <a:srgbClr val="111111"/>
                </a:solidFill>
              </a:defRPr>
            </a:pPr>
            <a:r>
              <a:rPr sz="713" b="1">
                <a:solidFill>
                  <a:srgbClr val="111111"/>
                </a:solidFill>
              </a:rPr>
              <a:t>Execution</a:t>
            </a:r>
          </a:p>
        </p:txBody>
      </p:sp>
      <p:sp>
        <p:nvSpPr>
          <p:cNvPr id="43" name="risk-callout">
            <a:extLst xmlns:a="http://schemas.openxmlformats.org/drawingml/2006/main">
              <a:ext uri="{FF2B5EF4-FFF2-40B4-BE49-F238E27FC236}">
                <a16:creationId xmlns:a16="http://schemas.microsoft.com/office/drawing/2014/main" id="{6FB076A6-1776-4853-B98E-1173D146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548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4" name="risk-callout-title">
            <a:extLst xmlns:a="http://schemas.openxmlformats.org/drawingml/2006/main">
              <a:ext uri="{FF2B5EF4-FFF2-40B4-BE49-F238E27FC236}">
                <a16:creationId xmlns:a16="http://schemas.microsoft.com/office/drawing/2014/main" id="{20F8F731-993F-45B1-9C5B-6ED5408D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38" b="1">
                <a:solidFill>
                  <a:srgbClr val="B00000"/>
                </a:solidFill>
              </a:defRPr>
            </a:pPr>
            <a:r>
              <a:rPr sz="938" b="1">
                <a:solidFill>
                  <a:srgbClr val="B00000"/>
                </a:solidFill>
              </a:rPr>
              <a:t>TOP RISK · RMB 8–12M impact</a:t>
            </a:r>
          </a:p>
        </p:txBody>
      </p:sp>
      <p:sp>
        <p:nvSpPr>
          <p:cNvPr id="45" name="risk-callout-copy">
            <a:extLst xmlns:a="http://schemas.openxmlformats.org/drawingml/2006/main">
              <a:ext uri="{FF2B5EF4-FFF2-40B4-BE49-F238E27FC236}">
                <a16:creationId xmlns:a16="http://schemas.microsoft.com/office/drawing/2014/main" id="{AECABA42-3C8E-4274-A395-1AEFC4B9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Reserve RMB 15M defensive capacity and protect HVCs with service benefits—not blanket cash subsidies.</a:t>
            </a:r>
          </a:p>
        </p:txBody>
      </p:sp>
      <p:sp>
        <p:nvSpPr>
          <p:cNvPr id="46" name="header-2-INVESTMENT &amp; RETURN">
            <a:extLst xmlns:a="http://schemas.openxmlformats.org/drawingml/2006/main">
              <a:ext uri="{FF2B5EF4-FFF2-40B4-BE49-F238E27FC236}">
                <a16:creationId xmlns:a16="http://schemas.microsoft.com/office/drawing/2014/main" id="{D546BC86-3B71-4AA5-B0CE-96A0F0F9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668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eader-text-2-INVESTMENT &amp; RETURN">
            <a:extLst xmlns:a="http://schemas.openxmlformats.org/drawingml/2006/main">
              <a:ext uri="{FF2B5EF4-FFF2-40B4-BE49-F238E27FC236}">
                <a16:creationId xmlns:a16="http://schemas.microsoft.com/office/drawing/2014/main" id="{6850FB8B-473A-4DF5-A32E-735A1D3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668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INVESTMENT &amp; RETURN</a:t>
            </a:r>
          </a:p>
        </p:txBody>
      </p:sp>
      <p:sp>
        <p:nvSpPr>
          <p:cNvPr id="48" name="investment-frame">
            <a:extLst xmlns:a="http://schemas.openxmlformats.org/drawingml/2006/main">
              <a:ext uri="{FF2B5EF4-FFF2-40B4-BE49-F238E27FC236}">
                <a16:creationId xmlns:a16="http://schemas.microsoft.com/office/drawing/2014/main" id="{5E895939-EE40-446B-9C2D-4D1689A9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52550"/>
            <a:ext cx="4000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9" name="inv-label-0">
            <a:extLst xmlns:a="http://schemas.openxmlformats.org/drawingml/2006/main">
              <a:ext uri="{FF2B5EF4-FFF2-40B4-BE49-F238E27FC236}">
                <a16:creationId xmlns:a16="http://schemas.microsoft.com/office/drawing/2014/main" id="{D5BD7D84-31EC-4F0B-8576-0919EC1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573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P1–P3 operating pilots</a:t>
            </a:r>
          </a:p>
        </p:txBody>
      </p:sp>
      <p:sp>
        <p:nvSpPr>
          <p:cNvPr id="50" name="inv-value-0">
            <a:extLst xmlns:a="http://schemas.openxmlformats.org/drawingml/2006/main">
              <a:ext uri="{FF2B5EF4-FFF2-40B4-BE49-F238E27FC236}">
                <a16:creationId xmlns:a16="http://schemas.microsoft.com/office/drawing/2014/main" id="{C31EF398-996E-49BE-9925-B6E9A52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975" b="1">
                <a:solidFill>
                  <a:srgbClr val="B00000"/>
                </a:solidFill>
              </a:defRPr>
            </a:pPr>
            <a:r>
              <a:rPr sz="975" b="1">
                <a:solidFill>
                  <a:srgbClr val="B00000"/>
                </a:solidFill>
              </a:rPr>
              <a:t>RMB 9.5M</a:t>
            </a:r>
          </a:p>
        </p:txBody>
      </p:sp>
      <p:sp>
        <p:nvSpPr>
          <p:cNvPr id="51" name="inv-track-0">
            <a:extLst xmlns:a="http://schemas.openxmlformats.org/drawingml/2006/main">
              <a:ext uri="{FF2B5EF4-FFF2-40B4-BE49-F238E27FC236}">
                <a16:creationId xmlns:a16="http://schemas.microsoft.com/office/drawing/2014/main" id="{825844FD-89F5-479A-A5B3-749A1E73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3505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inv-bar-0">
            <a:extLst xmlns:a="http://schemas.openxmlformats.org/drawingml/2006/main">
              <a:ext uri="{FF2B5EF4-FFF2-40B4-BE49-F238E27FC236}">
                <a16:creationId xmlns:a16="http://schemas.microsoft.com/office/drawing/2014/main" id="{6FF04E32-34AE-473A-BC9F-4D1180B2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266395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inv-label-1">
            <a:extLst xmlns:a="http://schemas.openxmlformats.org/drawingml/2006/main">
              <a:ext uri="{FF2B5EF4-FFF2-40B4-BE49-F238E27FC236}">
                <a16:creationId xmlns:a16="http://schemas.microsoft.com/office/drawing/2014/main" id="{1BF5DE69-31D5-4BCE-8598-20E8B50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AI Playbook</a:t>
            </a:r>
          </a:p>
        </p:txBody>
      </p:sp>
      <p:sp>
        <p:nvSpPr>
          <p:cNvPr id="54" name="inv-value-1">
            <a:extLst xmlns:a="http://schemas.openxmlformats.org/drawingml/2006/main">
              <a:ext uri="{FF2B5EF4-FFF2-40B4-BE49-F238E27FC236}">
                <a16:creationId xmlns:a16="http://schemas.microsoft.com/office/drawing/2014/main" id="{5AB7B747-8C6B-4030-94F9-049C925B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975" b="1">
                <a:solidFill>
                  <a:srgbClr val="EF6B6B"/>
                </a:solidFill>
              </a:defRPr>
            </a:pPr>
            <a:r>
              <a:rPr sz="975" b="1">
                <a:solidFill>
                  <a:srgbClr val="EF6B6B"/>
                </a:solidFill>
              </a:rPr>
              <a:t>RMB 3.0M</a:t>
            </a:r>
          </a:p>
        </p:txBody>
      </p:sp>
      <p:sp>
        <p:nvSpPr>
          <p:cNvPr id="55" name="inv-track-1">
            <a:extLst xmlns:a="http://schemas.openxmlformats.org/drawingml/2006/main">
              <a:ext uri="{FF2B5EF4-FFF2-40B4-BE49-F238E27FC236}">
                <a16:creationId xmlns:a16="http://schemas.microsoft.com/office/drawing/2014/main" id="{616F6A0F-444C-48CE-850C-BD27177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3505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inv-bar-1">
            <a:extLst xmlns:a="http://schemas.openxmlformats.org/drawingml/2006/main">
              <a:ext uri="{FF2B5EF4-FFF2-40B4-BE49-F238E27FC236}">
                <a16:creationId xmlns:a16="http://schemas.microsoft.com/office/drawing/2014/main" id="{1058662D-A9CC-48C7-8D82-B8484F2E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84124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investment-total">
            <a:extLst xmlns:a="http://schemas.openxmlformats.org/drawingml/2006/main">
              <a:ext uri="{FF2B5EF4-FFF2-40B4-BE49-F238E27FC236}">
                <a16:creationId xmlns:a16="http://schemas.microsoft.com/office/drawing/2014/main" id="{03BE01E1-B9E5-45B4-9714-07CFFEE5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350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8" name="investment-total-label">
            <a:extLst xmlns:a="http://schemas.openxmlformats.org/drawingml/2006/main">
              <a:ext uri="{FF2B5EF4-FFF2-40B4-BE49-F238E27FC236}">
                <a16:creationId xmlns:a16="http://schemas.microsoft.com/office/drawing/2014/main" id="{CAC216C5-D626-490F-A269-0BA6BF12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25" b="1">
                <a:solidFill>
                  <a:srgbClr val="777777"/>
                </a:solidFill>
              </a:defRPr>
            </a:pPr>
            <a:r>
              <a:rPr sz="825" b="1">
                <a:solidFill>
                  <a:srgbClr val="777777"/>
                </a:solidFill>
              </a:rPr>
              <a:t>YEAR-1 ASK</a:t>
            </a:r>
          </a:p>
        </p:txBody>
      </p:sp>
      <p:sp>
        <p:nvSpPr>
          <p:cNvPr id="59" name="investment-total-value">
            <a:extLst xmlns:a="http://schemas.openxmlformats.org/drawingml/2006/main">
              <a:ext uri="{FF2B5EF4-FFF2-40B4-BE49-F238E27FC236}">
                <a16:creationId xmlns:a16="http://schemas.microsoft.com/office/drawing/2014/main" id="{E66BD91D-4315-46F4-82C9-AD3FB9A7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800" b="1">
                <a:solidFill>
                  <a:srgbClr val="B00000"/>
                </a:solidFill>
              </a:defRPr>
            </a:pPr>
            <a:r>
              <a:rPr sz="1800" b="1">
                <a:solidFill>
                  <a:srgbClr val="B00000"/>
                </a:solidFill>
              </a:rPr>
              <a:t>RMB 12.5M</a:t>
            </a:r>
          </a:p>
        </p:txBody>
      </p:sp>
      <p:sp>
        <p:nvSpPr>
          <p:cNvPr id="60" name="header-3-DECISION CASE">
            <a:extLst xmlns:a="http://schemas.openxmlformats.org/drawingml/2006/main">
              <a:ext uri="{FF2B5EF4-FFF2-40B4-BE49-F238E27FC236}">
                <a16:creationId xmlns:a16="http://schemas.microsoft.com/office/drawing/2014/main" id="{3DA57750-EC2E-47DC-B35C-99D42A3B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eader-text-3-DECISION CASE">
            <a:extLst xmlns:a="http://schemas.openxmlformats.org/drawingml/2006/main">
              <a:ext uri="{FF2B5EF4-FFF2-40B4-BE49-F238E27FC236}">
                <a16:creationId xmlns:a16="http://schemas.microsoft.com/office/drawing/2014/main" id="{D3B878DA-B3BC-4FA1-A5EA-4D2A601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DECISION CASE</a:t>
            </a:r>
          </a:p>
        </p:txBody>
      </p:sp>
      <p:sp>
        <p:nvSpPr>
          <p:cNvPr id="62" name="decision-frame">
            <a:extLst xmlns:a="http://schemas.openxmlformats.org/drawingml/2006/main">
              <a:ext uri="{FF2B5EF4-FFF2-40B4-BE49-F238E27FC236}">
                <a16:creationId xmlns:a16="http://schemas.microsoft.com/office/drawing/2014/main" id="{198CCBEA-0904-4A7B-90C3-EB1DC040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4000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3" name="decision-label-0">
            <a:extLst xmlns:a="http://schemas.openxmlformats.org/drawingml/2006/main">
              <a:ext uri="{FF2B5EF4-FFF2-40B4-BE49-F238E27FC236}">
                <a16:creationId xmlns:a16="http://schemas.microsoft.com/office/drawing/2014/main" id="{F2773136-CDEA-4832-932E-F6616C9D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63" b="1">
                <a:solidFill>
                  <a:srgbClr val="111111"/>
                </a:solidFill>
              </a:defRPr>
            </a:pPr>
            <a:r>
              <a:rPr sz="863" b="1">
                <a:solidFill>
                  <a:srgbClr val="111111"/>
                </a:solidFill>
              </a:rPr>
              <a:t>2026 annualized improvement</a:t>
            </a:r>
          </a:p>
        </p:txBody>
      </p:sp>
      <p:sp>
        <p:nvSpPr>
          <p:cNvPr id="64" name="decision-value-0">
            <a:extLst xmlns:a="http://schemas.openxmlformats.org/drawingml/2006/main">
              <a:ext uri="{FF2B5EF4-FFF2-40B4-BE49-F238E27FC236}">
                <a16:creationId xmlns:a16="http://schemas.microsoft.com/office/drawing/2014/main" id="{89398856-CBEB-4EB8-8F3D-32C033F6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1">
                <a:solidFill>
                  <a:srgbClr val="B00000"/>
                </a:solidFill>
              </a:defRPr>
            </a:pPr>
            <a:r>
              <a:rPr sz="1125" b="1">
                <a:solidFill>
                  <a:srgbClr val="B00000"/>
                </a:solidFill>
              </a:rPr>
              <a:t>RMB 42–54M</a:t>
            </a:r>
          </a:p>
        </p:txBody>
      </p:sp>
      <p:sp>
        <p:nvSpPr>
          <p:cNvPr id="65" name="decision-rule-0">
            <a:extLst xmlns:a="http://schemas.openxmlformats.org/drawingml/2006/main">
              <a:ext uri="{FF2B5EF4-FFF2-40B4-BE49-F238E27FC236}">
                <a16:creationId xmlns:a16="http://schemas.microsoft.com/office/drawing/2014/main" id="{5E340C51-7611-404F-A004-330C87FF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ecision-label-1">
            <a:extLst xmlns:a="http://schemas.openxmlformats.org/drawingml/2006/main">
              <a:ext uri="{FF2B5EF4-FFF2-40B4-BE49-F238E27FC236}">
                <a16:creationId xmlns:a16="http://schemas.microsoft.com/office/drawing/2014/main" id="{F6E56504-745C-4D7D-A9F4-95FECCC7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00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63" b="1">
                <a:solidFill>
                  <a:srgbClr val="111111"/>
                </a:solidFill>
              </a:defRPr>
            </a:pPr>
            <a:r>
              <a:rPr sz="863" b="1">
                <a:solidFill>
                  <a:srgbClr val="111111"/>
                </a:solidFill>
              </a:rPr>
              <a:t>2028 city profit</a:t>
            </a:r>
          </a:p>
        </p:txBody>
      </p:sp>
      <p:sp>
        <p:nvSpPr>
          <p:cNvPr id="67" name="decision-value-1">
            <a:extLst xmlns:a="http://schemas.openxmlformats.org/drawingml/2006/main">
              <a:ext uri="{FF2B5EF4-FFF2-40B4-BE49-F238E27FC236}">
                <a16:creationId xmlns:a16="http://schemas.microsoft.com/office/drawing/2014/main" id="{CDBAB377-48FB-4A04-A01E-B922E624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006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1">
                <a:solidFill>
                  <a:srgbClr val="B00000"/>
                </a:solidFill>
              </a:defRPr>
            </a:pPr>
            <a:r>
              <a:rPr sz="1125" b="1">
                <a:solidFill>
                  <a:srgbClr val="B00000"/>
                </a:solidFill>
              </a:rPr>
              <a:t>+RMB 18M</a:t>
            </a:r>
          </a:p>
        </p:txBody>
      </p:sp>
      <p:sp>
        <p:nvSpPr>
          <p:cNvPr id="68" name="decision-rule-1">
            <a:extLst xmlns:a="http://schemas.openxmlformats.org/drawingml/2006/main">
              <a:ext uri="{FF2B5EF4-FFF2-40B4-BE49-F238E27FC236}">
                <a16:creationId xmlns:a16="http://schemas.microsoft.com/office/drawing/2014/main" id="{7D40CF9A-DFA0-4181-9131-ED96CFD6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62600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ecision-label-2">
            <a:extLst xmlns:a="http://schemas.openxmlformats.org/drawingml/2006/main">
              <a:ext uri="{FF2B5EF4-FFF2-40B4-BE49-F238E27FC236}">
                <a16:creationId xmlns:a16="http://schemas.microsoft.com/office/drawing/2014/main" id="{440C0F3B-DD78-4A60-9D8E-E826A211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38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63" b="1">
                <a:solidFill>
                  <a:srgbClr val="111111"/>
                </a:solidFill>
              </a:defRPr>
            </a:pPr>
            <a:r>
              <a:rPr sz="863" b="1">
                <a:solidFill>
                  <a:srgbClr val="111111"/>
                </a:solidFill>
              </a:rPr>
              <a:t>New-city break-even</a:t>
            </a:r>
          </a:p>
        </p:txBody>
      </p:sp>
      <p:sp>
        <p:nvSpPr>
          <p:cNvPr id="70" name="decision-value-2">
            <a:extLst xmlns:a="http://schemas.openxmlformats.org/drawingml/2006/main">
              <a:ext uri="{FF2B5EF4-FFF2-40B4-BE49-F238E27FC236}">
                <a16:creationId xmlns:a16="http://schemas.microsoft.com/office/drawing/2014/main" id="{A8541A22-8958-4B91-A06F-5F4FEE36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388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1">
                <a:solidFill>
                  <a:srgbClr val="B00000"/>
                </a:solidFill>
              </a:defRPr>
            </a:pPr>
            <a:r>
              <a:rPr sz="1125" b="1">
                <a:solidFill>
                  <a:srgbClr val="B00000"/>
                </a:solidFill>
              </a:rPr>
              <a:t>36 → 18 mo.</a:t>
            </a:r>
          </a:p>
        </p:txBody>
      </p:sp>
      <p:sp>
        <p:nvSpPr>
          <p:cNvPr id="71" name="source-3">
            <a:extLst xmlns:a="http://schemas.openxmlformats.org/drawingml/2006/main">
              <a:ext uri="{FF2B5EF4-FFF2-40B4-BE49-F238E27FC236}">
                <a16:creationId xmlns:a16="http://schemas.microsoft.com/office/drawing/2014/main" id="{1E52063B-87E7-47C1-9366-86591E6C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866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38" b="0">
                <a:solidFill>
                  <a:srgbClr val="777777"/>
                </a:solidFill>
              </a:defRPr>
            </a:pPr>
            <a:r>
              <a:rPr sz="638" b="0">
                <a:solidFill>
                  <a:srgbClr val="777777"/>
                </a:solidFill>
              </a:rPr>
              <a:t>Source: supplied speaker script · All figures are team estimates / proposed targets</a:t>
            </a:r>
          </a:p>
        </p:txBody>
      </p:sp>
      <p:sp>
        <p:nvSpPr>
          <p:cNvPr id="72" name="page-3">
            <a:extLst xmlns:a="http://schemas.openxmlformats.org/drawingml/2006/main">
              <a:ext uri="{FF2B5EF4-FFF2-40B4-BE49-F238E27FC236}">
                <a16:creationId xmlns:a16="http://schemas.microsoft.com/office/drawing/2014/main" id="{558096BB-211C-4865-9164-2C1658DD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675" b="1">
                <a:solidFill>
                  <a:srgbClr val="777777"/>
                </a:solidFill>
              </a:defRPr>
            </a:pPr>
            <a:r>
              <a:rPr sz="675" b="1">
                <a:solidFill>
                  <a:srgbClr val="777777"/>
                </a:solidFill>
              </a:rPr>
              <a:t>3</a:t>
            </a:r>
          </a:p>
        </p:txBody>
      </p:sp>
      <p:sp>
        <p:nvSpPr>
          <p:cNvPr id="73" name="takeaway-RECOMMEND · APPROVE">
            <a:extLst xmlns:a="http://schemas.openxmlformats.org/drawingml/2006/main">
              <a:ext uri="{FF2B5EF4-FFF2-40B4-BE49-F238E27FC236}">
                <a16:creationId xmlns:a16="http://schemas.microsoft.com/office/drawing/2014/main" id="{86B78341-BD91-4677-86DD-AD4BACA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743700"/>
            <a:ext cx="10010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takeaway-label-RECOMMEND · APPROVE">
            <a:extLst xmlns:a="http://schemas.openxmlformats.org/drawingml/2006/main">
              <a:ext uri="{FF2B5EF4-FFF2-40B4-BE49-F238E27FC236}">
                <a16:creationId xmlns:a16="http://schemas.microsoft.com/office/drawing/2014/main" id="{1263D7F2-1BFB-4455-83A2-2EDCCBF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00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RECOMMEND · APPROVE</a:t>
            </a:r>
          </a:p>
        </p:txBody>
      </p:sp>
      <p:sp>
        <p:nvSpPr>
          <p:cNvPr id="75" name="takeaway-rule-RECOMMEND · APPROVE">
            <a:extLst xmlns:a="http://schemas.openxmlformats.org/drawingml/2006/main">
              <a:ext uri="{FF2B5EF4-FFF2-40B4-BE49-F238E27FC236}">
                <a16:creationId xmlns:a16="http://schemas.microsoft.com/office/drawing/2014/main" id="{1545535D-B8AF-46BE-B949-BDEA8A37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8389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akeaway-copy-RECOMMEND · APPROVE">
            <a:extLst xmlns:a="http://schemas.openxmlformats.org/drawingml/2006/main">
              <a:ext uri="{FF2B5EF4-FFF2-40B4-BE49-F238E27FC236}">
                <a16:creationId xmlns:a16="http://schemas.microsoft.com/office/drawing/2014/main" id="{9568DE4B-9D74-4C1C-AFEC-8DA6282E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7913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Fund the Xuzhou Turnaround Lab now, with stage-gated scaling and a service-led defense against competitor subsidies.</a:t>
            </a:r>
          </a:p>
        </p:txBody>
      </p:sp>
    </p:spTree>
    <p:extLst>
      <p:ext uri="{BB962C8B-B14F-4D97-AF65-F5344CB8AC3E}">
        <p14:creationId xmlns:p14="http://schemas.microsoft.com/office/powerpoint/2010/main" val="1512354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2026-07-29T12:17:41.6410000Z</dcterms:created>
  <dcterms:modified xsi:type="dcterms:W3CDTF">2026-07-29T12:17:41.6410000Z</dcterms:modified>
</coreProperties>
</file>